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70" r:id="rId4"/>
    <p:sldId id="317" r:id="rId5"/>
    <p:sldId id="318" r:id="rId6"/>
    <p:sldId id="319" r:id="rId7"/>
    <p:sldId id="322" r:id="rId8"/>
    <p:sldId id="320" r:id="rId9"/>
    <p:sldId id="323" r:id="rId10"/>
    <p:sldId id="321" r:id="rId11"/>
    <p:sldId id="324" r:id="rId12"/>
    <p:sldId id="325" r:id="rId13"/>
  </p:sldIdLst>
  <p:sldSz cx="12192000" cy="6858000"/>
  <p:notesSz cx="6858000" cy="9144000"/>
  <p:embeddedFontLst>
    <p:embeddedFont>
      <p:font typeface="等线" panose="02010600030101010101" pitchFamily="2" charset="-122"/>
      <p:regular r:id="rId15"/>
      <p:bold r:id="rId16"/>
    </p:embeddedFont>
    <p:embeddedFont>
      <p:font typeface="OPPO Sans" panose="020B0604020202020204" charset="-122"/>
      <p:regular r:id="rId17"/>
      <p:bold r:id="rId18"/>
    </p:embeddedFont>
    <p:embeddedFont>
      <p:font typeface="方正小标宋简体" panose="020B0604020202020204" charset="-122"/>
      <p:regular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000"/>
    <a:srgbClr val="7E0000"/>
    <a:srgbClr val="D83C3C"/>
    <a:srgbClr val="31DCF3"/>
    <a:srgbClr val="08C3C8"/>
    <a:srgbClr val="148A8A"/>
    <a:srgbClr val="0A807A"/>
    <a:srgbClr val="09D8DD"/>
    <a:srgbClr val="649C68"/>
    <a:srgbClr val="3E7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8B2D05-67B2-6EBA-646C-E5612CB50CF5}" v="24" dt="2026-01-11T14:56:59.058"/>
    <p1510:client id="{C779C8B7-29E1-4BAB-A494-88709AB57BFD}" v="3001" dt="2026-01-11T14:59:21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3FDCD-43C0-46D0-BA2B-AB6D0A1D38A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2189F-53B2-44F1-8DF9-5F6B8F759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4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569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8A53-D19E-FAE5-8AF2-236E6870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217C15-37D5-EC50-A161-618C3284E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524335-60E9-2CA5-0AE7-BE56A12A7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675505-D4E0-B67F-9C55-4BA9FCAAE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70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DC3E-A1CA-FE79-EF2B-B1900392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B0FFB8-1248-B347-578A-7052588D7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ABA64B-BB35-C824-9000-FE514A980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36C6DB-4C21-2B70-4CEB-1AE902986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98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B84E-A99A-0019-8254-8375AB4D5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BA2DB0-7493-0CA0-4A05-7E68EB5BA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1F91D1-8CFC-5890-36E1-8445B77F6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8E9A25-3CA9-E256-A6ED-E1F7690F2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74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6499-0355-9FFC-50AD-0450BC94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85A190-0028-9AF2-977F-78E2E99BD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75CA3D-DDAC-EE49-5998-4E692657D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591445-A5C1-7BA9-21A8-9D413317E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454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453D-7F5B-1EB0-FA75-5546714F7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B4A0FD-E52B-901B-40F7-66E54E91F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F0E430-9883-8522-7242-BB834E886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A18968-7664-555D-A2E0-C3BE541CB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915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C0DDF-1A5B-5715-EEB3-675553EA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C8FF02-C5EA-020D-4295-4E5EC70DD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91DD0C-D2AA-C3F7-E2E4-7D8CCEA88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E87E39-1D2D-FD0F-07A4-ED2E116EB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547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7028-800D-9392-ADB4-D860CD24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8D5616-11BA-BD50-BE44-7D077BAF3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B53C44-ED50-195A-1235-339153573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3B9939-D4AF-5959-0BB2-14C91B1C9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474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39DCD-0062-7C49-2732-5452ED0E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C936E7-D9D9-2D5C-B2CB-8E90ED9C6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622D2A-41AD-AD1F-8C66-3FAEF905E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313BD9-8B83-A207-9E52-1950A8E62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263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B1A4C-1736-F05D-E570-1BC5852E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BF9C58-85F2-3F4B-C24C-C0D44C118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63B914-49F4-FF0D-9B1B-32D7B175F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685E9-3CA2-664B-F5A4-CC8F5C8FC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223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3D70-1BF3-ED03-8E5E-1B32E233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ECC376-A87D-FAF9-84CF-11F65D196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9B110A-71B3-8689-79B1-B958D35DA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A4977D-04D7-0C53-257A-00C7197F3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800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2367A-ED44-D186-1554-1A9B3470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CED018-AB8D-8863-1FCB-6F0F09B55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72C92D-1C20-746E-E1BC-C9BD3F056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F04B63-F905-6135-4592-434618DDA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2189F-53B2-44F1-8DF9-5F6B8F75907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79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EF908-7D67-97C6-A9AE-41C11874E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5AED8C-CDC3-B580-74BC-D9AC8D82B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15C2F1-1442-B64A-0DC4-CBE9ED26FEE2}"/>
              </a:ext>
            </a:extLst>
          </p:cNvPr>
          <p:cNvSpPr/>
          <p:nvPr userDrawn="1"/>
        </p:nvSpPr>
        <p:spPr>
          <a:xfrm>
            <a:off x="0" y="0"/>
            <a:ext cx="6096000" cy="3866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698182-2DD0-275C-D89E-CB5DD0D26B1C}"/>
              </a:ext>
            </a:extLst>
          </p:cNvPr>
          <p:cNvSpPr/>
          <p:nvPr userDrawn="1"/>
        </p:nvSpPr>
        <p:spPr>
          <a:xfrm>
            <a:off x="6096000" y="0"/>
            <a:ext cx="6096002" cy="386626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3330A7-BDBA-C677-E096-BC2DAFF9F11D}"/>
              </a:ext>
            </a:extLst>
          </p:cNvPr>
          <p:cNvSpPr/>
          <p:nvPr userDrawn="1"/>
        </p:nvSpPr>
        <p:spPr>
          <a:xfrm>
            <a:off x="-1" y="6471374"/>
            <a:ext cx="4181281" cy="38662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2023</a:t>
            </a:r>
            <a:r>
              <a:rPr lang="zh-CN" altLang="en-US" sz="1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级 通信工程 何淼 袁越 张志文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B5FEA1-5940-B9EA-5927-80F7C5D1E84F}"/>
              </a:ext>
            </a:extLst>
          </p:cNvPr>
          <p:cNvSpPr/>
          <p:nvPr userDrawn="1"/>
        </p:nvSpPr>
        <p:spPr>
          <a:xfrm>
            <a:off x="4181280" y="6471374"/>
            <a:ext cx="4005360" cy="386626"/>
          </a:xfrm>
          <a:prstGeom prst="rect">
            <a:avLst/>
          </a:prstGeom>
          <a:solidFill>
            <a:srgbClr val="9A0000"/>
          </a:solidFill>
          <a:ln>
            <a:solidFill>
              <a:srgbClr val="9A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小标宋简体"/>
                <a:ea typeface="方正小标宋简体"/>
                <a:cs typeface="+mj-cs"/>
              </a:rPr>
              <a:t>2025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小标宋简体"/>
                <a:ea typeface="方正小标宋简体"/>
                <a:cs typeface="+mj-cs"/>
              </a:rPr>
              <a:t>信息论与编码课程设计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方正小标宋简体"/>
              <a:ea typeface="方正小标宋简体"/>
              <a:cs typeface="+mj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827D6E-CD6D-87BE-46C6-173EE7742B29}"/>
              </a:ext>
            </a:extLst>
          </p:cNvPr>
          <p:cNvSpPr/>
          <p:nvPr userDrawn="1"/>
        </p:nvSpPr>
        <p:spPr>
          <a:xfrm>
            <a:off x="8186640" y="6471374"/>
            <a:ext cx="4005360" cy="386626"/>
          </a:xfrm>
          <a:prstGeom prst="rect">
            <a:avLst/>
          </a:prstGeom>
          <a:solidFill>
            <a:srgbClr val="7E0000"/>
          </a:solidFill>
          <a:ln>
            <a:solidFill>
              <a:srgbClr val="7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+mj-ea"/>
                <a:ea typeface="+mj-ea"/>
              </a:rPr>
              <a:t>                 2025</a:t>
            </a:r>
            <a:r>
              <a:rPr lang="zh-CN" altLang="en-US" sz="1400">
                <a:solidFill>
                  <a:schemeClr val="bg1"/>
                </a:solidFill>
                <a:latin typeface="+mj-ea"/>
                <a:ea typeface="+mj-ea"/>
              </a:rPr>
              <a:t>年</a:t>
            </a:r>
            <a:r>
              <a:rPr lang="en-US" altLang="zh-CN" sz="1400">
                <a:solidFill>
                  <a:schemeClr val="bg1"/>
                </a:solidFill>
                <a:latin typeface="+mj-ea"/>
                <a:ea typeface="+mj-ea"/>
              </a:rPr>
              <a:t>12</a:t>
            </a:r>
            <a:r>
              <a:rPr lang="zh-CN" altLang="en-US" sz="1400">
                <a:solidFill>
                  <a:schemeClr val="bg1"/>
                </a:solidFill>
                <a:latin typeface="+mj-ea"/>
                <a:ea typeface="+mj-ea"/>
              </a:rPr>
              <a:t>月</a:t>
            </a:r>
            <a:r>
              <a:rPr lang="en-US" altLang="zh-CN" sz="1400">
                <a:solidFill>
                  <a:schemeClr val="bg1"/>
                </a:solidFill>
                <a:latin typeface="+mj-ea"/>
                <a:ea typeface="+mj-ea"/>
              </a:rPr>
              <a:t>24</a:t>
            </a:r>
            <a:r>
              <a:rPr lang="zh-CN" altLang="en-US" sz="1400">
                <a:solidFill>
                  <a:schemeClr val="bg1"/>
                </a:solidFill>
                <a:latin typeface="+mj-ea"/>
                <a:ea typeface="+mj-ea"/>
              </a:rPr>
              <a:t>日            页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31EBE6-83A0-B8D7-A07F-6F6123B7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1440" y="5930900"/>
            <a:ext cx="2743200" cy="365125"/>
          </a:xfrm>
        </p:spPr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3A476F-D035-8E25-53D7-B6D49080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7EC425-5CC9-B565-51F4-6AC4FDD9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2812" y="6471374"/>
            <a:ext cx="2827238" cy="38662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12AC8821-0FC2-4035-B8FA-CBB4408EE2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38427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79018-FFBD-4A89-0294-B905B0AE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4FEB09-BE03-37EE-32A9-C547A4DD9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F4BF21-B378-6438-9BD4-3396E18C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E4E8F9-9760-46DA-9718-5D4C8EA1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0851EB-7F84-25C9-E8FD-C6E6E22A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69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A3952-F9F6-3B3F-7ADA-F93166C82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E6C6FD-894C-4AFA-7714-58700C77F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9C58C5-53CC-7434-812B-101EC14C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8B866-8114-2765-9F68-34503F24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185909-3634-B33C-2BAF-17CD8344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41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08508-DC95-7BD3-FCBF-1E517C6F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A166-FE3B-FB93-1B03-EFF89EEE3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276183-0D96-C117-357F-FC0E938F4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D02783-6146-887C-467E-0EE41D60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A37D26-D246-2F60-ED3C-B38D70287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8FA290-0AC1-62FA-FACC-14A27851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98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F84A4-F5A9-6C7E-700F-925BB940D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D8AB57-EE20-E94F-61DE-9366A3EC9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0F6FAB-FD52-C88B-4DC2-6D4331B42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05BBAE1-B0B1-A382-362C-2CAF5AA1D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8B9BDC-3FE1-D52D-E42E-EED829A24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B61F62-9BB1-7AE1-779C-A9405883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F7A2B9-E0B3-4CBF-AB97-8878F714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250AC7-2812-06C8-4373-CEB5A94D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68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B8CDB-C290-3D3C-A298-5C553DE7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993255-0FDB-B78C-2258-40D646A8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7E53DF-1BF5-0B8F-81F5-379008CB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619B66-71AA-31C2-9FB0-C70633A0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9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23EDD0-192E-7F8A-8B8F-A3701529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E2414D-CCAB-CA60-6DB2-FD5DC00D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D08221-D524-2CBF-B0EB-CCFD5A0C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6840905-6DB1-91DD-9CC1-B9174F6DB970}"/>
              </a:ext>
            </a:extLst>
          </p:cNvPr>
          <p:cNvGrpSpPr/>
          <p:nvPr userDrawn="1"/>
        </p:nvGrpSpPr>
        <p:grpSpPr>
          <a:xfrm>
            <a:off x="7893648" y="2588206"/>
            <a:ext cx="1157895" cy="1133303"/>
            <a:chOff x="5619371" y="2664406"/>
            <a:chExt cx="1157895" cy="1133303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28FDC9B-DC9E-FD6D-FE3A-82FA9D603F98}"/>
                </a:ext>
              </a:extLst>
            </p:cNvPr>
            <p:cNvSpPr/>
            <p:nvPr userDrawn="1"/>
          </p:nvSpPr>
          <p:spPr>
            <a:xfrm>
              <a:off x="5619371" y="2664406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CEE8C51-1762-5BDB-CAF4-3E8F56F08127}"/>
                </a:ext>
              </a:extLst>
            </p:cNvPr>
            <p:cNvSpPr/>
            <p:nvPr userDrawn="1"/>
          </p:nvSpPr>
          <p:spPr>
            <a:xfrm>
              <a:off x="6341775" y="2664407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92F6208-9F5B-4AD2-EEC2-77C91DA6CB1E}"/>
                </a:ext>
              </a:extLst>
            </p:cNvPr>
            <p:cNvSpPr/>
            <p:nvPr userDrawn="1"/>
          </p:nvSpPr>
          <p:spPr>
            <a:xfrm>
              <a:off x="6341775" y="3362218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空心弧 12">
              <a:extLst>
                <a:ext uri="{FF2B5EF4-FFF2-40B4-BE49-F238E27FC236}">
                  <a16:creationId xmlns:a16="http://schemas.microsoft.com/office/drawing/2014/main" id="{D81703F0-7AAB-81AC-E72E-FDB73DF7C398}"/>
                </a:ext>
              </a:extLst>
            </p:cNvPr>
            <p:cNvSpPr/>
            <p:nvPr userDrawn="1"/>
          </p:nvSpPr>
          <p:spPr>
            <a:xfrm>
              <a:off x="5755757" y="2793703"/>
              <a:ext cx="884276" cy="884276"/>
            </a:xfrm>
            <a:prstGeom prst="blockArc">
              <a:avLst>
                <a:gd name="adj1" fmla="val 10800000"/>
                <a:gd name="adj2" fmla="val 5362201"/>
                <a:gd name="adj3" fmla="val 30242"/>
              </a:avLst>
            </a:prstGeom>
            <a:solidFill>
              <a:srgbClr val="C00000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0E7D2549-E862-87FB-7173-F0086237ACEA}"/>
                </a:ext>
              </a:extLst>
            </p:cNvPr>
            <p:cNvSpPr/>
            <p:nvPr userDrawn="1"/>
          </p:nvSpPr>
          <p:spPr>
            <a:xfrm rot="10800000">
              <a:off x="5861332" y="2892004"/>
              <a:ext cx="674379" cy="674379"/>
            </a:xfrm>
            <a:prstGeom prst="blockArc">
              <a:avLst>
                <a:gd name="adj1" fmla="val 11754278"/>
                <a:gd name="adj2" fmla="val 21558613"/>
                <a:gd name="adj3" fmla="val 21803"/>
              </a:avLst>
            </a:prstGeom>
            <a:solidFill>
              <a:srgbClr val="C00000"/>
            </a:solidFill>
            <a:ln w="25400">
              <a:solidFill>
                <a:schemeClr val="bg1">
                  <a:alpha val="9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5588F88-E5AF-A71A-EC17-34E1B4F3EDEC}"/>
                </a:ext>
              </a:extLst>
            </p:cNvPr>
            <p:cNvSpPr/>
            <p:nvPr userDrawn="1"/>
          </p:nvSpPr>
          <p:spPr>
            <a:xfrm>
              <a:off x="5639117" y="3389812"/>
              <a:ext cx="396000" cy="396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281A9C50-1A4C-161D-5BC3-0F14C974C839}"/>
                </a:ext>
              </a:extLst>
            </p:cNvPr>
            <p:cNvSpPr/>
            <p:nvPr userDrawn="1"/>
          </p:nvSpPr>
          <p:spPr>
            <a:xfrm>
              <a:off x="6096000" y="3119438"/>
              <a:ext cx="45719" cy="17621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C6C213B-1E8F-25AF-07E0-79E8D1170684}"/>
                </a:ext>
              </a:extLst>
            </p:cNvPr>
            <p:cNvSpPr/>
            <p:nvPr userDrawn="1"/>
          </p:nvSpPr>
          <p:spPr>
            <a:xfrm>
              <a:off x="6223991" y="3119438"/>
              <a:ext cx="45719" cy="17621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C5AB39-7878-69D5-5871-0A75B075645A}"/>
                </a:ext>
              </a:extLst>
            </p:cNvPr>
            <p:cNvGrpSpPr/>
            <p:nvPr userDrawn="1"/>
          </p:nvGrpSpPr>
          <p:grpSpPr>
            <a:xfrm rot="6089757">
              <a:off x="6517015" y="2813634"/>
              <a:ext cx="129950" cy="121576"/>
              <a:chOff x="6319745" y="2848415"/>
              <a:chExt cx="129950" cy="121576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F485BFF6-6343-047E-7003-60ED50A6B715}"/>
                  </a:ext>
                </a:extLst>
              </p:cNvPr>
              <p:cNvSpPr/>
              <p:nvPr userDrawn="1"/>
            </p:nvSpPr>
            <p:spPr>
              <a:xfrm rot="17590099" flipH="1">
                <a:off x="6356183" y="2887834"/>
                <a:ext cx="45719" cy="1185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11306792-AAEB-B94E-8F04-78D410EF3F71}"/>
                  </a:ext>
                </a:extLst>
              </p:cNvPr>
              <p:cNvSpPr/>
              <p:nvPr userDrawn="1"/>
            </p:nvSpPr>
            <p:spPr>
              <a:xfrm rot="19938885" flipH="1">
                <a:off x="6403976" y="2848415"/>
                <a:ext cx="45719" cy="1185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83E326E-40DB-5563-5884-DADFBB66AFDA}"/>
              </a:ext>
            </a:extLst>
          </p:cNvPr>
          <p:cNvGrpSpPr/>
          <p:nvPr userDrawn="1"/>
        </p:nvGrpSpPr>
        <p:grpSpPr>
          <a:xfrm>
            <a:off x="9658424" y="2592989"/>
            <a:ext cx="1157895" cy="1133303"/>
            <a:chOff x="5619371" y="2664406"/>
            <a:chExt cx="1157895" cy="113330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3630F00-1395-B3D8-FDF3-B7B4233A3C44}"/>
                </a:ext>
              </a:extLst>
            </p:cNvPr>
            <p:cNvSpPr/>
            <p:nvPr userDrawn="1"/>
          </p:nvSpPr>
          <p:spPr>
            <a:xfrm>
              <a:off x="5619371" y="2664406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B2CE884-764E-80E2-2FE4-C783313B91DB}"/>
                </a:ext>
              </a:extLst>
            </p:cNvPr>
            <p:cNvSpPr/>
            <p:nvPr userDrawn="1"/>
          </p:nvSpPr>
          <p:spPr>
            <a:xfrm>
              <a:off x="6341775" y="3362218"/>
              <a:ext cx="435491" cy="43549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空心弧 18">
              <a:extLst>
                <a:ext uri="{FF2B5EF4-FFF2-40B4-BE49-F238E27FC236}">
                  <a16:creationId xmlns:a16="http://schemas.microsoft.com/office/drawing/2014/main" id="{E6AD422D-82BF-7088-D24E-F7ABCEC4EC10}"/>
                </a:ext>
              </a:extLst>
            </p:cNvPr>
            <p:cNvSpPr/>
            <p:nvPr userDrawn="1"/>
          </p:nvSpPr>
          <p:spPr>
            <a:xfrm>
              <a:off x="5755757" y="2793703"/>
              <a:ext cx="884276" cy="884276"/>
            </a:xfrm>
            <a:prstGeom prst="blockArc">
              <a:avLst>
                <a:gd name="adj1" fmla="val 10800000"/>
                <a:gd name="adj2" fmla="val 5362201"/>
                <a:gd name="adj3" fmla="val 30242"/>
              </a:avLst>
            </a:prstGeom>
            <a:solidFill>
              <a:srgbClr val="C00000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空心弧 21">
              <a:extLst>
                <a:ext uri="{FF2B5EF4-FFF2-40B4-BE49-F238E27FC236}">
                  <a16:creationId xmlns:a16="http://schemas.microsoft.com/office/drawing/2014/main" id="{C08E8027-4D7C-2FAC-57C1-8B83CB3D84AB}"/>
                </a:ext>
              </a:extLst>
            </p:cNvPr>
            <p:cNvSpPr/>
            <p:nvPr userDrawn="1"/>
          </p:nvSpPr>
          <p:spPr>
            <a:xfrm rot="10800000">
              <a:off x="5861332" y="2892004"/>
              <a:ext cx="674379" cy="674379"/>
            </a:xfrm>
            <a:prstGeom prst="blockArc">
              <a:avLst>
                <a:gd name="adj1" fmla="val 11754278"/>
                <a:gd name="adj2" fmla="val 21558613"/>
                <a:gd name="adj3" fmla="val 21803"/>
              </a:avLst>
            </a:prstGeom>
            <a:solidFill>
              <a:srgbClr val="C00000"/>
            </a:solidFill>
            <a:ln w="25400">
              <a:solidFill>
                <a:schemeClr val="bg1">
                  <a:alpha val="9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B32D9D8B-5830-9569-A540-9E10E5289119}"/>
                </a:ext>
              </a:extLst>
            </p:cNvPr>
            <p:cNvSpPr/>
            <p:nvPr userDrawn="1"/>
          </p:nvSpPr>
          <p:spPr>
            <a:xfrm>
              <a:off x="5629270" y="3372963"/>
              <a:ext cx="414000" cy="414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D418E8F-FC71-3869-740F-AC547931FD5F}"/>
                </a:ext>
              </a:extLst>
            </p:cNvPr>
            <p:cNvSpPr/>
            <p:nvPr userDrawn="1"/>
          </p:nvSpPr>
          <p:spPr>
            <a:xfrm>
              <a:off x="6096000" y="3119438"/>
              <a:ext cx="45719" cy="17621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D44AFEA-C267-EBD4-58B2-300A76DF30F1}"/>
                </a:ext>
              </a:extLst>
            </p:cNvPr>
            <p:cNvSpPr/>
            <p:nvPr userDrawn="1"/>
          </p:nvSpPr>
          <p:spPr>
            <a:xfrm>
              <a:off x="6223991" y="3119438"/>
              <a:ext cx="45719" cy="17621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DCE8A7F-96C7-444F-B2A9-5812CF876E6F}"/>
                </a:ext>
              </a:extLst>
            </p:cNvPr>
            <p:cNvSpPr/>
            <p:nvPr userDrawn="1"/>
          </p:nvSpPr>
          <p:spPr>
            <a:xfrm>
              <a:off x="6352520" y="2674254"/>
              <a:ext cx="414000" cy="414000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F88922D-4431-3C4A-B735-E8047D18179D}"/>
              </a:ext>
            </a:extLst>
          </p:cNvPr>
          <p:cNvGrpSpPr/>
          <p:nvPr userDrawn="1"/>
        </p:nvGrpSpPr>
        <p:grpSpPr>
          <a:xfrm>
            <a:off x="7893224" y="4085272"/>
            <a:ext cx="1157895" cy="1133303"/>
            <a:chOff x="5619371" y="2664406"/>
            <a:chExt cx="1157895" cy="1133303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430AB677-A077-E4A1-C1F6-568829AAD53D}"/>
                </a:ext>
              </a:extLst>
            </p:cNvPr>
            <p:cNvSpPr/>
            <p:nvPr userDrawn="1"/>
          </p:nvSpPr>
          <p:spPr>
            <a:xfrm>
              <a:off x="5619371" y="2664406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CD65C7FE-CB95-1389-3F7A-7CE3961B29D6}"/>
                </a:ext>
              </a:extLst>
            </p:cNvPr>
            <p:cNvSpPr/>
            <p:nvPr userDrawn="1"/>
          </p:nvSpPr>
          <p:spPr>
            <a:xfrm>
              <a:off x="6341775" y="2664407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06A54BC-5221-2632-DA21-60C68ABB471C}"/>
                </a:ext>
              </a:extLst>
            </p:cNvPr>
            <p:cNvSpPr/>
            <p:nvPr userDrawn="1"/>
          </p:nvSpPr>
          <p:spPr>
            <a:xfrm>
              <a:off x="6341775" y="3362218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空心弧 32">
              <a:extLst>
                <a:ext uri="{FF2B5EF4-FFF2-40B4-BE49-F238E27FC236}">
                  <a16:creationId xmlns:a16="http://schemas.microsoft.com/office/drawing/2014/main" id="{F88AA332-3A8C-4AB2-3571-A6BCF37E158B}"/>
                </a:ext>
              </a:extLst>
            </p:cNvPr>
            <p:cNvSpPr/>
            <p:nvPr userDrawn="1"/>
          </p:nvSpPr>
          <p:spPr>
            <a:xfrm>
              <a:off x="5755757" y="2793703"/>
              <a:ext cx="884276" cy="884276"/>
            </a:xfrm>
            <a:prstGeom prst="blockArc">
              <a:avLst>
                <a:gd name="adj1" fmla="val 10800000"/>
                <a:gd name="adj2" fmla="val 5362201"/>
                <a:gd name="adj3" fmla="val 30242"/>
              </a:avLst>
            </a:prstGeom>
            <a:solidFill>
              <a:srgbClr val="C00000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空心弧 33">
              <a:extLst>
                <a:ext uri="{FF2B5EF4-FFF2-40B4-BE49-F238E27FC236}">
                  <a16:creationId xmlns:a16="http://schemas.microsoft.com/office/drawing/2014/main" id="{5A253396-62C2-C97B-5CAE-3C50ABDDD8A1}"/>
                </a:ext>
              </a:extLst>
            </p:cNvPr>
            <p:cNvSpPr/>
            <p:nvPr userDrawn="1"/>
          </p:nvSpPr>
          <p:spPr>
            <a:xfrm rot="10800000">
              <a:off x="5861332" y="2892004"/>
              <a:ext cx="674379" cy="674379"/>
            </a:xfrm>
            <a:prstGeom prst="blockArc">
              <a:avLst>
                <a:gd name="adj1" fmla="val 11754278"/>
                <a:gd name="adj2" fmla="val 21558613"/>
                <a:gd name="adj3" fmla="val 21803"/>
              </a:avLst>
            </a:prstGeom>
            <a:solidFill>
              <a:srgbClr val="C00000"/>
            </a:solidFill>
            <a:ln w="25400">
              <a:solidFill>
                <a:schemeClr val="bg1">
                  <a:alpha val="9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B4519BA-E2E3-8F50-34A8-F148885FEF05}"/>
                </a:ext>
              </a:extLst>
            </p:cNvPr>
            <p:cNvSpPr/>
            <p:nvPr userDrawn="1"/>
          </p:nvSpPr>
          <p:spPr>
            <a:xfrm>
              <a:off x="5639117" y="3389812"/>
              <a:ext cx="396000" cy="396000"/>
            </a:xfrm>
            <a:prstGeom prst="ellipse">
              <a:avLst/>
            </a:prstGeom>
            <a:solidFill>
              <a:srgbClr val="C00000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571042D6-83CE-0B5F-47D7-D8DB26E1F446}"/>
                </a:ext>
              </a:extLst>
            </p:cNvPr>
            <p:cNvSpPr/>
            <p:nvPr userDrawn="1"/>
          </p:nvSpPr>
          <p:spPr>
            <a:xfrm>
              <a:off x="6096000" y="3119438"/>
              <a:ext cx="45719" cy="17621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4C802205-D6B9-884D-2D35-FE14F38C5292}"/>
                </a:ext>
              </a:extLst>
            </p:cNvPr>
            <p:cNvSpPr/>
            <p:nvPr userDrawn="1"/>
          </p:nvSpPr>
          <p:spPr>
            <a:xfrm>
              <a:off x="6223991" y="3119438"/>
              <a:ext cx="45719" cy="17621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B2B5F1F-B5B1-F0D3-4069-98455011E103}"/>
                </a:ext>
              </a:extLst>
            </p:cNvPr>
            <p:cNvGrpSpPr/>
            <p:nvPr userDrawn="1"/>
          </p:nvGrpSpPr>
          <p:grpSpPr>
            <a:xfrm rot="6089757">
              <a:off x="6517015" y="2813634"/>
              <a:ext cx="129950" cy="121576"/>
              <a:chOff x="6319745" y="2848415"/>
              <a:chExt cx="129950" cy="121576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80841097-1B19-1C81-5986-757A5AA8C276}"/>
                  </a:ext>
                </a:extLst>
              </p:cNvPr>
              <p:cNvSpPr/>
              <p:nvPr userDrawn="1"/>
            </p:nvSpPr>
            <p:spPr>
              <a:xfrm rot="17590099" flipH="1">
                <a:off x="6356183" y="2887834"/>
                <a:ext cx="45719" cy="1185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331C8A3F-F4D4-90BB-64A5-6A35DB364162}"/>
                  </a:ext>
                </a:extLst>
              </p:cNvPr>
              <p:cNvSpPr/>
              <p:nvPr userDrawn="1"/>
            </p:nvSpPr>
            <p:spPr>
              <a:xfrm rot="19938885" flipH="1">
                <a:off x="6403976" y="2848415"/>
                <a:ext cx="45719" cy="1185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0AD3887-E92D-8416-A8DA-4BF0D1996781}"/>
              </a:ext>
            </a:extLst>
          </p:cNvPr>
          <p:cNvGrpSpPr/>
          <p:nvPr userDrawn="1"/>
        </p:nvGrpSpPr>
        <p:grpSpPr>
          <a:xfrm>
            <a:off x="9626774" y="4079536"/>
            <a:ext cx="1157895" cy="1133303"/>
            <a:chOff x="5619371" y="2664406"/>
            <a:chExt cx="1157895" cy="11333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BBE4926F-FD56-03F1-BE35-AB8F0D148F3E}"/>
                </a:ext>
              </a:extLst>
            </p:cNvPr>
            <p:cNvSpPr/>
            <p:nvPr userDrawn="1"/>
          </p:nvSpPr>
          <p:spPr>
            <a:xfrm>
              <a:off x="5619371" y="2664406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E3BFB37-6AF2-A0D1-4EEC-1CCFB4B85491}"/>
                </a:ext>
              </a:extLst>
            </p:cNvPr>
            <p:cNvSpPr/>
            <p:nvPr userDrawn="1"/>
          </p:nvSpPr>
          <p:spPr>
            <a:xfrm>
              <a:off x="6341775" y="2664407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E285632-D168-5B8E-F4C7-AF02BCE16646}"/>
                </a:ext>
              </a:extLst>
            </p:cNvPr>
            <p:cNvSpPr/>
            <p:nvPr userDrawn="1"/>
          </p:nvSpPr>
          <p:spPr>
            <a:xfrm>
              <a:off x="6341775" y="3362218"/>
              <a:ext cx="435491" cy="435491"/>
            </a:xfrm>
            <a:prstGeom prst="ellipse">
              <a:avLst/>
            </a:prstGeom>
            <a:solidFill>
              <a:srgbClr val="C00000"/>
            </a:solidFill>
            <a:ln w="539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空心弧 44">
              <a:extLst>
                <a:ext uri="{FF2B5EF4-FFF2-40B4-BE49-F238E27FC236}">
                  <a16:creationId xmlns:a16="http://schemas.microsoft.com/office/drawing/2014/main" id="{2D06F1A1-38D9-865C-FA50-4F84E8566B15}"/>
                </a:ext>
              </a:extLst>
            </p:cNvPr>
            <p:cNvSpPr/>
            <p:nvPr userDrawn="1"/>
          </p:nvSpPr>
          <p:spPr>
            <a:xfrm>
              <a:off x="5755757" y="2793703"/>
              <a:ext cx="884276" cy="884276"/>
            </a:xfrm>
            <a:prstGeom prst="blockArc">
              <a:avLst>
                <a:gd name="adj1" fmla="val 10800000"/>
                <a:gd name="adj2" fmla="val 5362201"/>
                <a:gd name="adj3" fmla="val 30242"/>
              </a:avLst>
            </a:prstGeom>
            <a:solidFill>
              <a:srgbClr val="C00000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空心弧 45">
              <a:extLst>
                <a:ext uri="{FF2B5EF4-FFF2-40B4-BE49-F238E27FC236}">
                  <a16:creationId xmlns:a16="http://schemas.microsoft.com/office/drawing/2014/main" id="{84087AF8-59F5-2EAC-9D59-3B40295DB53F}"/>
                </a:ext>
              </a:extLst>
            </p:cNvPr>
            <p:cNvSpPr/>
            <p:nvPr userDrawn="1"/>
          </p:nvSpPr>
          <p:spPr>
            <a:xfrm rot="10800000">
              <a:off x="5861332" y="2892004"/>
              <a:ext cx="674379" cy="674379"/>
            </a:xfrm>
            <a:prstGeom prst="blockArc">
              <a:avLst>
                <a:gd name="adj1" fmla="val 11754278"/>
                <a:gd name="adj2" fmla="val 21558613"/>
                <a:gd name="adj3" fmla="val 21803"/>
              </a:avLst>
            </a:prstGeom>
            <a:solidFill>
              <a:srgbClr val="C00000"/>
            </a:solidFill>
            <a:ln w="25400">
              <a:solidFill>
                <a:schemeClr val="bg1">
                  <a:alpha val="98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8DDFF74-289D-9368-813A-05CE74A7A7E5}"/>
                </a:ext>
              </a:extLst>
            </p:cNvPr>
            <p:cNvSpPr/>
            <p:nvPr userDrawn="1"/>
          </p:nvSpPr>
          <p:spPr>
            <a:xfrm>
              <a:off x="5639117" y="3389812"/>
              <a:ext cx="396000" cy="396000"/>
            </a:xfrm>
            <a:prstGeom prst="ellipse">
              <a:avLst/>
            </a:prstGeom>
            <a:solidFill>
              <a:srgbClr val="C00000"/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2DD25AED-C490-B2A0-BBC0-C5E8C052214D}"/>
                </a:ext>
              </a:extLst>
            </p:cNvPr>
            <p:cNvSpPr/>
            <p:nvPr userDrawn="1"/>
          </p:nvSpPr>
          <p:spPr>
            <a:xfrm>
              <a:off x="6096000" y="3119438"/>
              <a:ext cx="45719" cy="17621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E3C0076-6688-0BA5-342B-A6E293D0A09D}"/>
                </a:ext>
              </a:extLst>
            </p:cNvPr>
            <p:cNvSpPr/>
            <p:nvPr userDrawn="1"/>
          </p:nvSpPr>
          <p:spPr>
            <a:xfrm>
              <a:off x="6223991" y="3119438"/>
              <a:ext cx="45719" cy="176212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4A15E699-86DE-B638-98AA-41CF46FC150B}"/>
              </a:ext>
            </a:extLst>
          </p:cNvPr>
          <p:cNvSpPr txBox="1"/>
          <p:nvPr userDrawn="1"/>
        </p:nvSpPr>
        <p:spPr>
          <a:xfrm>
            <a:off x="9074485" y="3607667"/>
            <a:ext cx="120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1   2</a:t>
            </a:r>
          </a:p>
          <a:p>
            <a:r>
              <a:rPr lang="en-US" altLang="zh-CN"/>
              <a:t>3  4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97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C226D-C961-869E-F91D-311140944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B63073-E314-B11F-B9ED-A57DA84D9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3077EF-E37D-71EC-71DC-AF48403B0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08D62D-F53C-D707-D4C7-3A57DEBD1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DFAFA6-D2EE-FC73-6F6B-F020246E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5535F9-1A6C-1375-1917-DCCC5370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99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95F16-5423-DF07-2EF1-BCAB800F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F5D444-B2AE-4577-9258-0516C7847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803FF5-C5D6-4CDD-6AA7-C837F5EA2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44EF54-AC72-6F6D-E704-6F23279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6AA50D-55F0-0828-758F-B5CB5CFC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769290-3736-6BDA-C1DB-9646240B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65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441B2-B996-53D9-0A87-2EFF6099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4A5CC1-0EC9-1E1A-8FB1-F629713EB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5843B6-F519-1321-1D2D-36086FC7D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9F775-2D26-4DF9-ACCC-717E57A7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5B7631-19CA-5528-369F-4D04E33EE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36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8C5261-A6A9-C6D5-A82D-04AEAEA83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F399FD-8754-44D5-35F4-081547DD6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47BEDC-1004-9F78-FC59-48852841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5B1FE-DAC7-8FEE-07C1-22F9A5A2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24D3F1-FA08-A1C7-68AE-F03BBA8B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63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3D3D8-6926-E653-3ACB-8115AE94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C48FE7-6293-C22A-845A-F0125D71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6E60BB-CC15-54B6-2012-02DB500C4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4D6D0-D30E-4BF4-8980-E12D5825070C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CE1189-9A1C-F52A-BCEE-69A1E5880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643AA9-24AC-C58D-D5D8-B28F9D791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C8821-0FC2-4035-B8FA-CBB4408EE2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95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01EAB9-BDB8-E638-549A-E2793941ED7A}"/>
              </a:ext>
            </a:extLst>
          </p:cNvPr>
          <p:cNvSpPr/>
          <p:nvPr/>
        </p:nvSpPr>
        <p:spPr>
          <a:xfrm>
            <a:off x="872411" y="849429"/>
            <a:ext cx="10597414" cy="5159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E33113-CCE9-8ED6-1759-DDD72FAF2FCE}"/>
              </a:ext>
            </a:extLst>
          </p:cNvPr>
          <p:cNvSpPr/>
          <p:nvPr/>
        </p:nvSpPr>
        <p:spPr>
          <a:xfrm>
            <a:off x="1166780" y="1456996"/>
            <a:ext cx="9858439" cy="126626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254000" dist="63500" dir="528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小标宋简体"/>
                <a:ea typeface="方正小标宋简体"/>
                <a:cs typeface="+mj-cs"/>
              </a:rPr>
              <a:t>信息论与编码课程设计</a:t>
            </a:r>
            <a:b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小标宋简体"/>
                <a:ea typeface="方正小标宋简体"/>
                <a:cs typeface="+mj-cs"/>
              </a:rPr>
            </a:br>
            <a:r>
              <a:rPr lang="zh-CN" altLang="en-US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方正小标宋简体"/>
                <a:ea typeface="方正小标宋简体"/>
                <a:cs typeface="+mj-cs"/>
              </a:rPr>
              <a:t>卷积码</a:t>
            </a:r>
            <a:r>
              <a: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小标宋简体"/>
                <a:ea typeface="方正小标宋简体"/>
                <a:cs typeface="+mj-cs"/>
              </a:rPr>
              <a:t> </a:t>
            </a:r>
            <a:r>
              <a:rPr kumimoji="0" lang="en-US" altLang="zh-CN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小标宋简体"/>
                <a:ea typeface="方正小标宋简体"/>
                <a:cs typeface="+mj-cs"/>
              </a:rPr>
              <a:t>/ Turbo </a:t>
            </a:r>
            <a:r>
              <a: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方正小标宋简体"/>
                <a:ea typeface="方正小标宋简体"/>
                <a:cs typeface="+mj-cs"/>
              </a:rPr>
              <a:t>码</a:t>
            </a:r>
            <a:r>
              <a:rPr lang="zh-CN" altLang="en-US">
                <a:solidFill>
                  <a:prstClr val="white"/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方正小标宋简体"/>
                <a:ea typeface="方正小标宋简体"/>
                <a:cs typeface="+mj-cs"/>
              </a:rPr>
              <a:t>的编译码实现</a:t>
            </a:r>
            <a:endParaRPr lang="zh-CN" altLang="en-US" sz="1200">
              <a:solidFill>
                <a:prstClr val="white"/>
              </a:solidFill>
              <a:effectLst>
                <a:outerShdw blurRad="50800" dist="38100" dir="5400000" sx="101000" sy="101000" algn="t" rotWithShape="0">
                  <a:prstClr val="black">
                    <a:alpha val="40000"/>
                  </a:prstClr>
                </a:outerShdw>
              </a:effectLst>
              <a:latin typeface="方正小标宋简体"/>
              <a:ea typeface="方正小标宋简体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E60CD6-F7E4-1584-D581-119808BE5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9203"/>
            <a:ext cx="9144000" cy="875533"/>
          </a:xfrm>
        </p:spPr>
        <p:txBody>
          <a:bodyPr/>
          <a:lstStyle/>
          <a:p>
            <a:r>
              <a:rPr lang="zh-CN" altLang="en-US" sz="2000">
                <a:latin typeface="+mj-ea"/>
                <a:ea typeface="+mj-ea"/>
              </a:rPr>
              <a:t>电子与信息工程学院（微电子学院） 通信工程 </a:t>
            </a:r>
            <a:r>
              <a:rPr lang="en-US" altLang="zh-CN" sz="2000">
                <a:latin typeface="+mj-ea"/>
                <a:ea typeface="+mj-ea"/>
              </a:rPr>
              <a:t>2023</a:t>
            </a:r>
            <a:r>
              <a:rPr lang="zh-CN" altLang="en-US" sz="2000">
                <a:latin typeface="+mj-ea"/>
                <a:ea typeface="+mj-ea"/>
              </a:rPr>
              <a:t>级</a:t>
            </a:r>
            <a:endParaRPr lang="en-US" altLang="zh-CN" sz="2000">
              <a:latin typeface="+mj-ea"/>
              <a:ea typeface="+mj-ea"/>
            </a:endParaRPr>
          </a:p>
          <a:p>
            <a:r>
              <a:rPr lang="zh-CN" altLang="en-US" sz="2000">
                <a:latin typeface="+mj-ea"/>
                <a:ea typeface="+mj-ea"/>
              </a:rPr>
              <a:t>何淼 袁越 张志文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954CA90-FE23-C74F-B608-F04A6658C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834" y="4375533"/>
            <a:ext cx="4366330" cy="1262400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5847FA-0034-070E-D0E4-E927B837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01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8"/>
    </mc:Choice>
    <mc:Fallback xmlns="">
      <p:transition spd="slow" advTm="30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7486-190D-9B0C-CA4C-1D5E9E810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67C4D23-B96E-64B9-024C-E24D8B6B0026}"/>
              </a:ext>
            </a:extLst>
          </p:cNvPr>
          <p:cNvSpPr/>
          <p:nvPr/>
        </p:nvSpPr>
        <p:spPr>
          <a:xfrm>
            <a:off x="866274" y="962526"/>
            <a:ext cx="10597414" cy="5159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B82367-37C4-243C-5E88-64C2EA54FFDA}"/>
              </a:ext>
            </a:extLst>
          </p:cNvPr>
          <p:cNvSpPr/>
          <p:nvPr/>
        </p:nvSpPr>
        <p:spPr>
          <a:xfrm>
            <a:off x="3883068" y="1951205"/>
            <a:ext cx="4446740" cy="35477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544871-77A8-09FD-FF25-822680214BEE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大纲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F57D52-D404-E645-1C68-6B832F4A2EB5}"/>
              </a:ext>
            </a:extLst>
          </p:cNvPr>
          <p:cNvSpPr txBox="1"/>
          <p:nvPr/>
        </p:nvSpPr>
        <p:spPr>
          <a:xfrm>
            <a:off x="993386" y="1951205"/>
            <a:ext cx="7121914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1B1C1D"/>
                </a:solidFill>
                <a:latin typeface="+mj-ea"/>
                <a:ea typeface="+mj-ea"/>
              </a:rPr>
              <a:t>卷积码编码</a:t>
            </a:r>
            <a:endParaRPr lang="en-US" altLang="zh-CN" sz="2400">
              <a:solidFill>
                <a:srgbClr val="1B1C1D"/>
              </a:solidFill>
              <a:latin typeface="+mj-ea"/>
              <a:ea typeface="+mj-ea"/>
            </a:endParaRP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1B1C1D"/>
                </a:solidFill>
                <a:latin typeface="+mj-ea"/>
                <a:ea typeface="+mj-ea"/>
              </a:rPr>
              <a:t>卷积码译码</a:t>
            </a:r>
            <a:r>
              <a:rPr lang="en-US" altLang="zh-CN" sz="2400">
                <a:solidFill>
                  <a:srgbClr val="1B1C1D"/>
                </a:solidFill>
                <a:latin typeface="+mj-ea"/>
                <a:ea typeface="+mj-ea"/>
              </a:rPr>
              <a:t>——</a:t>
            </a:r>
            <a:r>
              <a:rPr lang="zh-CN" altLang="en-US" sz="2400">
                <a:solidFill>
                  <a:srgbClr val="1B1C1D"/>
                </a:solidFill>
                <a:latin typeface="+mj-ea"/>
                <a:ea typeface="+mj-ea"/>
              </a:rPr>
              <a:t>硬维特比</a:t>
            </a:r>
            <a:endParaRPr lang="en-US" altLang="zh-CN" sz="2400">
              <a:solidFill>
                <a:srgbClr val="1B1C1D"/>
              </a:solidFill>
              <a:latin typeface="+mj-ea"/>
              <a:ea typeface="+mj-ea"/>
            </a:endParaRP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1B1C1D"/>
                </a:solidFill>
                <a:latin typeface="+mj-ea"/>
                <a:ea typeface="+mj-ea"/>
              </a:rPr>
              <a:t>卷积码译码</a:t>
            </a:r>
            <a:r>
              <a:rPr lang="en-US" altLang="zh-CN" sz="2400">
                <a:solidFill>
                  <a:srgbClr val="1B1C1D"/>
                </a:solidFill>
                <a:latin typeface="+mj-ea"/>
                <a:ea typeface="+mj-ea"/>
              </a:rPr>
              <a:t>——</a:t>
            </a:r>
            <a:r>
              <a:rPr lang="zh-CN" altLang="en-US" sz="2400">
                <a:solidFill>
                  <a:srgbClr val="1B1C1D"/>
                </a:solidFill>
                <a:latin typeface="+mj-ea"/>
                <a:ea typeface="+mj-ea"/>
              </a:rPr>
              <a:t>软维特比</a:t>
            </a:r>
            <a:endParaRPr lang="en-US" altLang="zh-CN" sz="2400">
              <a:solidFill>
                <a:srgbClr val="1B1C1D"/>
              </a:solidFill>
              <a:latin typeface="+mj-ea"/>
              <a:ea typeface="+mj-ea"/>
            </a:endParaRP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1B1C1D"/>
                </a:solidFill>
                <a:latin typeface="+mj-ea"/>
                <a:ea typeface="+mj-ea"/>
              </a:rPr>
              <a:t>卷积码译码</a:t>
            </a:r>
            <a:r>
              <a:rPr lang="en-US" altLang="zh-CN" sz="2400">
                <a:solidFill>
                  <a:srgbClr val="1B1C1D"/>
                </a:solidFill>
                <a:latin typeface="+mj-ea"/>
                <a:ea typeface="+mj-ea"/>
              </a:rPr>
              <a:t>——BCJR</a:t>
            </a:r>
            <a:r>
              <a:rPr lang="zh-CN" altLang="en-US" sz="2400">
                <a:solidFill>
                  <a:srgbClr val="1B1C1D"/>
                </a:solidFill>
                <a:latin typeface="+mj-ea"/>
                <a:ea typeface="+mj-ea"/>
              </a:rPr>
              <a:t>译码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1B1C1D"/>
                </a:solidFill>
                <a:latin typeface="+mj-ea"/>
                <a:ea typeface="+mj-ea"/>
              </a:rPr>
              <a:t>Turbo</a:t>
            </a:r>
            <a:r>
              <a:rPr lang="zh-CN" altLang="en-US" sz="2400">
                <a:solidFill>
                  <a:srgbClr val="1B1C1D"/>
                </a:solidFill>
                <a:latin typeface="+mj-ea"/>
                <a:ea typeface="+mj-ea"/>
              </a:rPr>
              <a:t>码编译码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44326-8467-CDE9-65F5-700D8929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5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7"/>
    </mc:Choice>
    <mc:Fallback xmlns="">
      <p:transition spd="slow" advTm="211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49E0-4B13-DD48-AB3B-45380E58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18F84F3-0E71-73AA-B6EE-FB46218A2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863" y="4041000"/>
            <a:ext cx="3436678" cy="233152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3C7697D-ECE6-A11D-5DB2-5EF31057C784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卷积码编码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35CC1B-1F29-D48A-D749-D89297ADB0C7}"/>
              </a:ext>
            </a:extLst>
          </p:cNvPr>
          <p:cNvSpPr txBox="1"/>
          <p:nvPr/>
        </p:nvSpPr>
        <p:spPr>
          <a:xfrm>
            <a:off x="6184573" y="1388249"/>
            <a:ext cx="5856050" cy="2994883"/>
          </a:xfrm>
          <a:prstGeom prst="roundRect">
            <a:avLst>
              <a:gd name="adj" fmla="val 2717"/>
            </a:avLst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encoder()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c1, c2;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s0 = </a:t>
            </a:r>
            <a:r>
              <a:rPr lang="en-US" altLang="zh-CN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寄存器 </a:t>
            </a:r>
            <a:r>
              <a:rPr lang="en-US" altLang="zh-CN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1 (D)</a:t>
            </a:r>
            <a:endParaRPr lang="en-US" altLang="zh-CN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s1 = </a:t>
            </a:r>
            <a:r>
              <a:rPr lang="en-US" altLang="zh-CN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寄存器 </a:t>
            </a:r>
            <a:r>
              <a:rPr lang="en-US" altLang="zh-CN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2 (D^2)</a:t>
            </a:r>
            <a:endParaRPr lang="en-US" altLang="zh-CN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zh-CN" sz="1400" b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CC_message_length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c1 = message[</a:t>
            </a:r>
            <a:r>
              <a:rPr lang="en-US" altLang="zh-CN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^ s0 ^ s1;</a:t>
            </a:r>
            <a:r>
              <a:rPr lang="en-US" altLang="zh-CN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G_c1 = 1 + D + D^2</a:t>
            </a:r>
            <a:endParaRPr lang="en-US" altLang="zh-CN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c2 = message[</a:t>
            </a:r>
            <a:r>
              <a:rPr lang="en-US" altLang="zh-CN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^ s1;</a:t>
            </a:r>
            <a:r>
              <a:rPr lang="en-US" altLang="zh-CN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// G_c2 = 1 + D^2</a:t>
            </a:r>
            <a:endParaRPr lang="en-US" altLang="zh-CN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s1 = s0;</a:t>
            </a:r>
            <a:r>
              <a:rPr lang="en-US" altLang="zh-CN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zh-CN" altLang="en-US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移位</a:t>
            </a:r>
            <a:endParaRPr lang="zh-CN" altLang="en-US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zh-CN" alt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s0 = message[</a:t>
            </a:r>
            <a:r>
              <a:rPr lang="en-US" altLang="zh-CN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zh-CN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zh-CN" altLang="en-US" sz="14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移位</a:t>
            </a:r>
            <a:endParaRPr lang="zh-CN" altLang="en-US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zh-CN" altLang="en-US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codeword[</a:t>
            </a:r>
            <a:r>
              <a:rPr lang="en-US" altLang="zh-CN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c1;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codeword[</a:t>
            </a:r>
            <a:r>
              <a:rPr lang="en-US" altLang="zh-CN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400" b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sz="1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c2;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altLang="zh-CN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849715-FEF2-C139-ED21-8B27084D872A}"/>
              </a:ext>
            </a:extLst>
          </p:cNvPr>
          <p:cNvSpPr txBox="1"/>
          <p:nvPr/>
        </p:nvSpPr>
        <p:spPr>
          <a:xfrm>
            <a:off x="1240189" y="1703481"/>
            <a:ext cx="3828615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spcBef>
                <a:spcPts val="600"/>
              </a:spcBef>
            </a:pPr>
            <a:r>
              <a:rPr lang="en-US" altLang="zh-CN" sz="2400" b="1">
                <a:latin typeface="+mn-ea"/>
              </a:rPr>
              <a:t>1. </a:t>
            </a:r>
            <a:r>
              <a:rPr lang="en-US" altLang="zh-CN" b="1">
                <a:latin typeface="+mn-ea"/>
              </a:rPr>
              <a:t> </a:t>
            </a:r>
            <a:r>
              <a:rPr lang="zh-CN" altLang="en-US" sz="2400" b="1">
                <a:latin typeface="+mn-ea"/>
              </a:rPr>
              <a:t>移位寄存器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/>
              <a:t>初始化移位寄存器，存储寄存器状态。</a:t>
            </a:r>
            <a:endParaRPr lang="en-US" altLang="zh-CN"/>
          </a:p>
          <a:p>
            <a:pPr rtl="0" fontAlgn="base">
              <a:spcBef>
                <a:spcPts val="600"/>
              </a:spcBef>
            </a:pPr>
            <a:endParaRPr lang="en-US" altLang="zh-CN"/>
          </a:p>
          <a:p>
            <a:pPr rtl="0" fontAlgn="base">
              <a:spcBef>
                <a:spcPts val="600"/>
              </a:spcBef>
            </a:pPr>
            <a:r>
              <a:rPr lang="en-US" altLang="zh-CN" sz="2400" b="1">
                <a:latin typeface="+mn-ea"/>
              </a:rPr>
              <a:t>2. </a:t>
            </a:r>
            <a:r>
              <a:rPr lang="zh-CN" altLang="en-US" sz="2400" b="1">
                <a:latin typeface="+mn-ea"/>
              </a:rPr>
              <a:t>发送码字计算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/>
              <a:t>依据生成多项式 </a:t>
            </a:r>
            <a:r>
              <a:rPr lang="en-US" altLang="zh-CN"/>
              <a:t>(7, 5)</a:t>
            </a:r>
            <a:r>
              <a:rPr lang="en-US" altLang="zh-CN" baseline="-25000"/>
              <a:t>8</a:t>
            </a:r>
            <a:r>
              <a:rPr lang="zh-CN" altLang="en-US"/>
              <a:t> 码定义计算输出码字。之后更新移位寄存器。</a:t>
            </a:r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8F9E2F6-68E7-BD5D-E185-DAF171D9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77387F0-A2EB-BEC5-5EB9-B0B97703D5CE}"/>
              </a:ext>
            </a:extLst>
          </p:cNvPr>
          <p:cNvSpPr/>
          <p:nvPr/>
        </p:nvSpPr>
        <p:spPr>
          <a:xfrm>
            <a:off x="3256281" y="1788332"/>
            <a:ext cx="3350188" cy="403785"/>
          </a:xfrm>
          <a:custGeom>
            <a:avLst/>
            <a:gdLst>
              <a:gd name="connsiteX0" fmla="*/ 0 w 6468948"/>
              <a:gd name="connsiteY0" fmla="*/ 745660 h 1393360"/>
              <a:gd name="connsiteX1" fmla="*/ 2156460 w 6468948"/>
              <a:gd name="connsiteY1" fmla="*/ 128440 h 1393360"/>
              <a:gd name="connsiteX2" fmla="*/ 6179820 w 6468948"/>
              <a:gd name="connsiteY2" fmla="*/ 75100 h 1393360"/>
              <a:gd name="connsiteX3" fmla="*/ 6134100 w 6468948"/>
              <a:gd name="connsiteY3" fmla="*/ 981880 h 1393360"/>
              <a:gd name="connsiteX4" fmla="*/ 6012180 w 6468948"/>
              <a:gd name="connsiteY4" fmla="*/ 1393360 h 1393360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083574"/>
              <a:gd name="connsiteY0" fmla="*/ 849316 h 1497016"/>
              <a:gd name="connsiteX1" fmla="*/ 2451735 w 6083574"/>
              <a:gd name="connsiteY1" fmla="*/ 74933 h 1497016"/>
              <a:gd name="connsiteX2" fmla="*/ 5732145 w 6083574"/>
              <a:gd name="connsiteY2" fmla="*/ 131131 h 1497016"/>
              <a:gd name="connsiteX3" fmla="*/ 5972175 w 6083574"/>
              <a:gd name="connsiteY3" fmla="*/ 966473 h 1497016"/>
              <a:gd name="connsiteX4" fmla="*/ 6012180 w 6083574"/>
              <a:gd name="connsiteY4" fmla="*/ 1497016 h 1497016"/>
              <a:gd name="connsiteX0" fmla="*/ 0 w 6012900"/>
              <a:gd name="connsiteY0" fmla="*/ 835417 h 1483117"/>
              <a:gd name="connsiteX1" fmla="*/ 2451735 w 6012900"/>
              <a:gd name="connsiteY1" fmla="*/ 61034 h 1483117"/>
              <a:gd name="connsiteX2" fmla="*/ 5274945 w 6012900"/>
              <a:gd name="connsiteY2" fmla="*/ 150570 h 1483117"/>
              <a:gd name="connsiteX3" fmla="*/ 5972175 w 6012900"/>
              <a:gd name="connsiteY3" fmla="*/ 952574 h 1483117"/>
              <a:gd name="connsiteX4" fmla="*/ 6012180 w 6012900"/>
              <a:gd name="connsiteY4" fmla="*/ 1483117 h 1483117"/>
              <a:gd name="connsiteX0" fmla="*/ 0 w 6012900"/>
              <a:gd name="connsiteY0" fmla="*/ 820860 h 1468560"/>
              <a:gd name="connsiteX1" fmla="*/ 2451735 w 6012900"/>
              <a:gd name="connsiteY1" fmla="*/ 46477 h 1468560"/>
              <a:gd name="connsiteX2" fmla="*/ 5042464 w 6012900"/>
              <a:gd name="connsiteY2" fmla="*/ 179556 h 1468560"/>
              <a:gd name="connsiteX3" fmla="*/ 5972175 w 6012900"/>
              <a:gd name="connsiteY3" fmla="*/ 938017 h 1468560"/>
              <a:gd name="connsiteX4" fmla="*/ 6012180 w 6012900"/>
              <a:gd name="connsiteY4" fmla="*/ 1468560 h 1468560"/>
              <a:gd name="connsiteX0" fmla="*/ 0 w 6013021"/>
              <a:gd name="connsiteY0" fmla="*/ 804040 h 1451740"/>
              <a:gd name="connsiteX1" fmla="*/ 2451735 w 6013021"/>
              <a:gd name="connsiteY1" fmla="*/ 29657 h 1451740"/>
              <a:gd name="connsiteX2" fmla="*/ 5042464 w 6013021"/>
              <a:gd name="connsiteY2" fmla="*/ 162736 h 1451740"/>
              <a:gd name="connsiteX3" fmla="*/ 5983911 w 6013021"/>
              <a:gd name="connsiteY3" fmla="*/ 182643 h 1451740"/>
              <a:gd name="connsiteX4" fmla="*/ 6012180 w 6013021"/>
              <a:gd name="connsiteY4" fmla="*/ 1451740 h 1451740"/>
              <a:gd name="connsiteX0" fmla="*/ 0 w 6012180"/>
              <a:gd name="connsiteY0" fmla="*/ 841976 h 1489676"/>
              <a:gd name="connsiteX1" fmla="*/ 2451735 w 6012180"/>
              <a:gd name="connsiteY1" fmla="*/ 67593 h 1489676"/>
              <a:gd name="connsiteX2" fmla="*/ 5042464 w 6012180"/>
              <a:gd name="connsiteY2" fmla="*/ 200672 h 1489676"/>
              <a:gd name="connsiteX3" fmla="*/ 6012180 w 6012180"/>
              <a:gd name="connsiteY3" fmla="*/ 1489676 h 1489676"/>
              <a:gd name="connsiteX0" fmla="*/ 0 w 5712917"/>
              <a:gd name="connsiteY0" fmla="*/ 813650 h 813671"/>
              <a:gd name="connsiteX1" fmla="*/ 2451735 w 5712917"/>
              <a:gd name="connsiteY1" fmla="*/ 39267 h 813671"/>
              <a:gd name="connsiteX2" fmla="*/ 5042464 w 5712917"/>
              <a:gd name="connsiteY2" fmla="*/ 172346 h 813671"/>
              <a:gd name="connsiteX3" fmla="*/ 5712917 w 5712917"/>
              <a:gd name="connsiteY3" fmla="*/ 675904 h 813671"/>
              <a:gd name="connsiteX0" fmla="*/ 0 w 5712917"/>
              <a:gd name="connsiteY0" fmla="*/ 863703 h 863725"/>
              <a:gd name="connsiteX1" fmla="*/ 2451735 w 5712917"/>
              <a:gd name="connsiteY1" fmla="*/ 89320 h 863725"/>
              <a:gd name="connsiteX2" fmla="*/ 3645901 w 5712917"/>
              <a:gd name="connsiteY2" fmla="*/ 87584 h 863725"/>
              <a:gd name="connsiteX3" fmla="*/ 5712917 w 5712917"/>
              <a:gd name="connsiteY3" fmla="*/ 725957 h 863725"/>
              <a:gd name="connsiteX0" fmla="*/ 0 w 3645901"/>
              <a:gd name="connsiteY0" fmla="*/ 863703 h 863725"/>
              <a:gd name="connsiteX1" fmla="*/ 2451735 w 3645901"/>
              <a:gd name="connsiteY1" fmla="*/ 89320 h 863725"/>
              <a:gd name="connsiteX2" fmla="*/ 3645901 w 3645901"/>
              <a:gd name="connsiteY2" fmla="*/ 87584 h 863725"/>
              <a:gd name="connsiteX0" fmla="*/ 0 w 3974505"/>
              <a:gd name="connsiteY0" fmla="*/ 774405 h 774424"/>
              <a:gd name="connsiteX1" fmla="*/ 2451735 w 3974505"/>
              <a:gd name="connsiteY1" fmla="*/ 22 h 774424"/>
              <a:gd name="connsiteX2" fmla="*/ 3974505 w 3974505"/>
              <a:gd name="connsiteY2" fmla="*/ 748563 h 774424"/>
              <a:gd name="connsiteX0" fmla="*/ 0 w 3974505"/>
              <a:gd name="connsiteY0" fmla="*/ 52533 h 169219"/>
              <a:gd name="connsiteX1" fmla="*/ 1706510 w 3974505"/>
              <a:gd name="connsiteY1" fmla="*/ 169103 h 169219"/>
              <a:gd name="connsiteX2" fmla="*/ 3974505 w 3974505"/>
              <a:gd name="connsiteY2" fmla="*/ 26691 h 169219"/>
              <a:gd name="connsiteX0" fmla="*/ 0 w 3974505"/>
              <a:gd name="connsiteY0" fmla="*/ 52533 h 169219"/>
              <a:gd name="connsiteX1" fmla="*/ 1853208 w 3974505"/>
              <a:gd name="connsiteY1" fmla="*/ 169103 h 169219"/>
              <a:gd name="connsiteX2" fmla="*/ 3974505 w 3974505"/>
              <a:gd name="connsiteY2" fmla="*/ 26691 h 169219"/>
              <a:gd name="connsiteX0" fmla="*/ 0 w 3974505"/>
              <a:gd name="connsiteY0" fmla="*/ 125412 h 125528"/>
              <a:gd name="connsiteX1" fmla="*/ 1853208 w 3974505"/>
              <a:gd name="connsiteY1" fmla="*/ 1659 h 125528"/>
              <a:gd name="connsiteX2" fmla="*/ 3974505 w 3974505"/>
              <a:gd name="connsiteY2" fmla="*/ 99570 h 125528"/>
              <a:gd name="connsiteX0" fmla="*/ 0 w 3974505"/>
              <a:gd name="connsiteY0" fmla="*/ 123778 h 282631"/>
              <a:gd name="connsiteX1" fmla="*/ 1853208 w 3974505"/>
              <a:gd name="connsiteY1" fmla="*/ 25 h 282631"/>
              <a:gd name="connsiteX2" fmla="*/ 3974505 w 3974505"/>
              <a:gd name="connsiteY2" fmla="*/ 97936 h 282631"/>
              <a:gd name="connsiteX0" fmla="*/ 0 w 4050788"/>
              <a:gd name="connsiteY0" fmla="*/ 123754 h 302039"/>
              <a:gd name="connsiteX1" fmla="*/ 1853208 w 4050788"/>
              <a:gd name="connsiteY1" fmla="*/ 1 h 302039"/>
              <a:gd name="connsiteX2" fmla="*/ 4050788 w 4050788"/>
              <a:gd name="connsiteY2" fmla="*/ 121358 h 302039"/>
              <a:gd name="connsiteX0" fmla="*/ 0 w 4101342"/>
              <a:gd name="connsiteY0" fmla="*/ 123754 h 605688"/>
              <a:gd name="connsiteX1" fmla="*/ 1853208 w 4101342"/>
              <a:gd name="connsiteY1" fmla="*/ 1 h 605688"/>
              <a:gd name="connsiteX2" fmla="*/ 4101342 w 4101342"/>
              <a:gd name="connsiteY2" fmla="*/ 475319 h 605688"/>
              <a:gd name="connsiteX0" fmla="*/ 0 w 4101342"/>
              <a:gd name="connsiteY0" fmla="*/ 123754 h 490027"/>
              <a:gd name="connsiteX1" fmla="*/ 1853208 w 4101342"/>
              <a:gd name="connsiteY1" fmla="*/ 1 h 490027"/>
              <a:gd name="connsiteX2" fmla="*/ 4101342 w 4101342"/>
              <a:gd name="connsiteY2" fmla="*/ 475319 h 490027"/>
              <a:gd name="connsiteX0" fmla="*/ 0 w 4101342"/>
              <a:gd name="connsiteY0" fmla="*/ 123754 h 403785"/>
              <a:gd name="connsiteX1" fmla="*/ 1853208 w 4101342"/>
              <a:gd name="connsiteY1" fmla="*/ 1 h 403785"/>
              <a:gd name="connsiteX2" fmla="*/ 4101342 w 4101342"/>
              <a:gd name="connsiteY2" fmla="*/ 386829 h 403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1342" h="403785">
                <a:moveTo>
                  <a:pt x="0" y="123754"/>
                </a:moveTo>
                <a:cubicBezTo>
                  <a:pt x="725170" y="128199"/>
                  <a:pt x="1178077" y="400"/>
                  <a:pt x="1853208" y="1"/>
                </a:cubicBezTo>
                <a:cubicBezTo>
                  <a:pt x="2528339" y="-398"/>
                  <a:pt x="3355145" y="501191"/>
                  <a:pt x="4101342" y="386829"/>
                </a:cubicBezTo>
              </a:path>
            </a:pathLst>
          </a:custGeom>
          <a:noFill/>
          <a:ln w="50800">
            <a:solidFill>
              <a:srgbClr val="D83C3C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1D6CAB4F-19AF-8080-AB43-480E29F13CCD}"/>
              </a:ext>
            </a:extLst>
          </p:cNvPr>
          <p:cNvSpPr/>
          <p:nvPr/>
        </p:nvSpPr>
        <p:spPr>
          <a:xfrm>
            <a:off x="3593136" y="2902142"/>
            <a:ext cx="3364774" cy="268590"/>
          </a:xfrm>
          <a:custGeom>
            <a:avLst/>
            <a:gdLst>
              <a:gd name="connsiteX0" fmla="*/ 0 w 6468948"/>
              <a:gd name="connsiteY0" fmla="*/ 745660 h 1393360"/>
              <a:gd name="connsiteX1" fmla="*/ 2156460 w 6468948"/>
              <a:gd name="connsiteY1" fmla="*/ 128440 h 1393360"/>
              <a:gd name="connsiteX2" fmla="*/ 6179820 w 6468948"/>
              <a:gd name="connsiteY2" fmla="*/ 75100 h 1393360"/>
              <a:gd name="connsiteX3" fmla="*/ 6134100 w 6468948"/>
              <a:gd name="connsiteY3" fmla="*/ 981880 h 1393360"/>
              <a:gd name="connsiteX4" fmla="*/ 6012180 w 6468948"/>
              <a:gd name="connsiteY4" fmla="*/ 1393360 h 1393360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083574"/>
              <a:gd name="connsiteY0" fmla="*/ 849316 h 1497016"/>
              <a:gd name="connsiteX1" fmla="*/ 2451735 w 6083574"/>
              <a:gd name="connsiteY1" fmla="*/ 74933 h 1497016"/>
              <a:gd name="connsiteX2" fmla="*/ 5732145 w 6083574"/>
              <a:gd name="connsiteY2" fmla="*/ 131131 h 1497016"/>
              <a:gd name="connsiteX3" fmla="*/ 5972175 w 6083574"/>
              <a:gd name="connsiteY3" fmla="*/ 966473 h 1497016"/>
              <a:gd name="connsiteX4" fmla="*/ 6012180 w 6083574"/>
              <a:gd name="connsiteY4" fmla="*/ 1497016 h 1497016"/>
              <a:gd name="connsiteX0" fmla="*/ 0 w 6012900"/>
              <a:gd name="connsiteY0" fmla="*/ 835417 h 1483117"/>
              <a:gd name="connsiteX1" fmla="*/ 2451735 w 6012900"/>
              <a:gd name="connsiteY1" fmla="*/ 61034 h 1483117"/>
              <a:gd name="connsiteX2" fmla="*/ 5274945 w 6012900"/>
              <a:gd name="connsiteY2" fmla="*/ 150570 h 1483117"/>
              <a:gd name="connsiteX3" fmla="*/ 5972175 w 6012900"/>
              <a:gd name="connsiteY3" fmla="*/ 952574 h 1483117"/>
              <a:gd name="connsiteX4" fmla="*/ 6012180 w 6012900"/>
              <a:gd name="connsiteY4" fmla="*/ 1483117 h 1483117"/>
              <a:gd name="connsiteX0" fmla="*/ 0 w 6012900"/>
              <a:gd name="connsiteY0" fmla="*/ 820860 h 1468560"/>
              <a:gd name="connsiteX1" fmla="*/ 2451735 w 6012900"/>
              <a:gd name="connsiteY1" fmla="*/ 46477 h 1468560"/>
              <a:gd name="connsiteX2" fmla="*/ 5042464 w 6012900"/>
              <a:gd name="connsiteY2" fmla="*/ 179556 h 1468560"/>
              <a:gd name="connsiteX3" fmla="*/ 5972175 w 6012900"/>
              <a:gd name="connsiteY3" fmla="*/ 938017 h 1468560"/>
              <a:gd name="connsiteX4" fmla="*/ 6012180 w 6012900"/>
              <a:gd name="connsiteY4" fmla="*/ 1468560 h 1468560"/>
              <a:gd name="connsiteX0" fmla="*/ 0 w 5973650"/>
              <a:gd name="connsiteY0" fmla="*/ 820860 h 938017"/>
              <a:gd name="connsiteX1" fmla="*/ 2451735 w 5973650"/>
              <a:gd name="connsiteY1" fmla="*/ 46477 h 938017"/>
              <a:gd name="connsiteX2" fmla="*/ 5042464 w 5973650"/>
              <a:gd name="connsiteY2" fmla="*/ 179556 h 938017"/>
              <a:gd name="connsiteX3" fmla="*/ 5972175 w 5973650"/>
              <a:gd name="connsiteY3" fmla="*/ 938017 h 938017"/>
              <a:gd name="connsiteX0" fmla="*/ 0 w 5042464"/>
              <a:gd name="connsiteY0" fmla="*/ 820860 h 820881"/>
              <a:gd name="connsiteX1" fmla="*/ 2451735 w 5042464"/>
              <a:gd name="connsiteY1" fmla="*/ 46477 h 820881"/>
              <a:gd name="connsiteX2" fmla="*/ 5042464 w 5042464"/>
              <a:gd name="connsiteY2" fmla="*/ 179556 h 820881"/>
              <a:gd name="connsiteX0" fmla="*/ 0 w 2451735"/>
              <a:gd name="connsiteY0" fmla="*/ 774383 h 774404"/>
              <a:gd name="connsiteX1" fmla="*/ 2451735 w 2451735"/>
              <a:gd name="connsiteY1" fmla="*/ 0 h 774404"/>
              <a:gd name="connsiteX0" fmla="*/ 0 w 2909432"/>
              <a:gd name="connsiteY0" fmla="*/ 462326 h 462366"/>
              <a:gd name="connsiteX1" fmla="*/ 2909432 w 2909432"/>
              <a:gd name="connsiteY1" fmla="*/ 0 h 462366"/>
              <a:gd name="connsiteX0" fmla="*/ 0 w 2909432"/>
              <a:gd name="connsiteY0" fmla="*/ 534292 h 534311"/>
              <a:gd name="connsiteX1" fmla="*/ 2909432 w 2909432"/>
              <a:gd name="connsiteY1" fmla="*/ 71966 h 534311"/>
              <a:gd name="connsiteX0" fmla="*/ 0 w 3025673"/>
              <a:gd name="connsiteY0" fmla="*/ 534292 h 534311"/>
              <a:gd name="connsiteX1" fmla="*/ 3025673 w 3025673"/>
              <a:gd name="connsiteY1" fmla="*/ 71966 h 534311"/>
              <a:gd name="connsiteX0" fmla="*/ 0 w 3076528"/>
              <a:gd name="connsiteY0" fmla="*/ 541022 h 541040"/>
              <a:gd name="connsiteX1" fmla="*/ 3076528 w 3076528"/>
              <a:gd name="connsiteY1" fmla="*/ 71439 h 541040"/>
              <a:gd name="connsiteX0" fmla="*/ 0 w 3076528"/>
              <a:gd name="connsiteY0" fmla="*/ 469583 h 471154"/>
              <a:gd name="connsiteX1" fmla="*/ 3076528 w 3076528"/>
              <a:gd name="connsiteY1" fmla="*/ 0 h 471154"/>
              <a:gd name="connsiteX0" fmla="*/ 0 w 3076528"/>
              <a:gd name="connsiteY0" fmla="*/ 469583 h 469583"/>
              <a:gd name="connsiteX1" fmla="*/ 3076528 w 3076528"/>
              <a:gd name="connsiteY1" fmla="*/ 0 h 469583"/>
              <a:gd name="connsiteX0" fmla="*/ 0 w 3076528"/>
              <a:gd name="connsiteY0" fmla="*/ 469583 h 469583"/>
              <a:gd name="connsiteX1" fmla="*/ 3076528 w 3076528"/>
              <a:gd name="connsiteY1" fmla="*/ 0 h 469583"/>
              <a:gd name="connsiteX0" fmla="*/ 0 w 3018408"/>
              <a:gd name="connsiteY0" fmla="*/ 273640 h 273640"/>
              <a:gd name="connsiteX1" fmla="*/ 3018408 w 3018408"/>
              <a:gd name="connsiteY1" fmla="*/ 0 h 273640"/>
              <a:gd name="connsiteX0" fmla="*/ 0 w 3200033"/>
              <a:gd name="connsiteY0" fmla="*/ 244611 h 244611"/>
              <a:gd name="connsiteX1" fmla="*/ 3200033 w 3200033"/>
              <a:gd name="connsiteY1" fmla="*/ 0 h 244611"/>
              <a:gd name="connsiteX0" fmla="*/ 0 w 3330804"/>
              <a:gd name="connsiteY0" fmla="*/ 193811 h 193811"/>
              <a:gd name="connsiteX1" fmla="*/ 3330804 w 3330804"/>
              <a:gd name="connsiteY1" fmla="*/ 0 h 193811"/>
              <a:gd name="connsiteX0" fmla="*/ 0 w 3789085"/>
              <a:gd name="connsiteY0" fmla="*/ 696488 h 696488"/>
              <a:gd name="connsiteX1" fmla="*/ 3789085 w 3789085"/>
              <a:gd name="connsiteY1" fmla="*/ 0 h 696488"/>
              <a:gd name="connsiteX0" fmla="*/ 0 w 3789085"/>
              <a:gd name="connsiteY0" fmla="*/ 696488 h 696496"/>
              <a:gd name="connsiteX1" fmla="*/ 3789085 w 3789085"/>
              <a:gd name="connsiteY1" fmla="*/ 0 h 696496"/>
              <a:gd name="connsiteX0" fmla="*/ 0 w 3789085"/>
              <a:gd name="connsiteY0" fmla="*/ 696488 h 696488"/>
              <a:gd name="connsiteX1" fmla="*/ 2281648 w 3789085"/>
              <a:gd name="connsiteY1" fmla="*/ 468359 h 696488"/>
              <a:gd name="connsiteX2" fmla="*/ 3789085 w 3789085"/>
              <a:gd name="connsiteY2" fmla="*/ 0 h 696488"/>
              <a:gd name="connsiteX0" fmla="*/ 0 w 3789085"/>
              <a:gd name="connsiteY0" fmla="*/ 696488 h 768148"/>
              <a:gd name="connsiteX1" fmla="*/ 2136622 w 3789085"/>
              <a:gd name="connsiteY1" fmla="*/ 705197 h 768148"/>
              <a:gd name="connsiteX2" fmla="*/ 3789085 w 3789085"/>
              <a:gd name="connsiteY2" fmla="*/ 0 h 768148"/>
              <a:gd name="connsiteX0" fmla="*/ 0 w 3789085"/>
              <a:gd name="connsiteY0" fmla="*/ 696488 h 768148"/>
              <a:gd name="connsiteX1" fmla="*/ 2136622 w 3789085"/>
              <a:gd name="connsiteY1" fmla="*/ 705197 h 768148"/>
              <a:gd name="connsiteX2" fmla="*/ 3789085 w 3789085"/>
              <a:gd name="connsiteY2" fmla="*/ 0 h 768148"/>
              <a:gd name="connsiteX0" fmla="*/ 0 w 3789085"/>
              <a:gd name="connsiteY0" fmla="*/ 696488 h 869869"/>
              <a:gd name="connsiteX1" fmla="*/ 2136622 w 3789085"/>
              <a:gd name="connsiteY1" fmla="*/ 705197 h 869869"/>
              <a:gd name="connsiteX2" fmla="*/ 3789085 w 3789085"/>
              <a:gd name="connsiteY2" fmla="*/ 0 h 869869"/>
              <a:gd name="connsiteX0" fmla="*/ 0 w 3789085"/>
              <a:gd name="connsiteY0" fmla="*/ 696488 h 869869"/>
              <a:gd name="connsiteX1" fmla="*/ 2136622 w 3789085"/>
              <a:gd name="connsiteY1" fmla="*/ 705197 h 869869"/>
              <a:gd name="connsiteX2" fmla="*/ 3789085 w 3789085"/>
              <a:gd name="connsiteY2" fmla="*/ 0 h 869869"/>
              <a:gd name="connsiteX0" fmla="*/ 0 w 3789085"/>
              <a:gd name="connsiteY0" fmla="*/ 696488 h 727727"/>
              <a:gd name="connsiteX1" fmla="*/ 2177230 w 3789085"/>
              <a:gd name="connsiteY1" fmla="*/ 473192 h 727727"/>
              <a:gd name="connsiteX2" fmla="*/ 3789085 w 3789085"/>
              <a:gd name="connsiteY2" fmla="*/ 0 h 727727"/>
              <a:gd name="connsiteX0" fmla="*/ 0 w 3789085"/>
              <a:gd name="connsiteY0" fmla="*/ 696488 h 727727"/>
              <a:gd name="connsiteX1" fmla="*/ 2177230 w 3789085"/>
              <a:gd name="connsiteY1" fmla="*/ 473192 h 727727"/>
              <a:gd name="connsiteX2" fmla="*/ 3789085 w 3789085"/>
              <a:gd name="connsiteY2" fmla="*/ 0 h 727727"/>
              <a:gd name="connsiteX0" fmla="*/ 0 w 3789085"/>
              <a:gd name="connsiteY0" fmla="*/ 696488 h 727727"/>
              <a:gd name="connsiteX1" fmla="*/ 2177230 w 3789085"/>
              <a:gd name="connsiteY1" fmla="*/ 473192 h 727727"/>
              <a:gd name="connsiteX2" fmla="*/ 3789085 w 3789085"/>
              <a:gd name="connsiteY2" fmla="*/ 0 h 727727"/>
              <a:gd name="connsiteX0" fmla="*/ 0 w 3789085"/>
              <a:gd name="connsiteY0" fmla="*/ 696488 h 696530"/>
              <a:gd name="connsiteX1" fmla="*/ 2177230 w 3789085"/>
              <a:gd name="connsiteY1" fmla="*/ 473192 h 696530"/>
              <a:gd name="connsiteX2" fmla="*/ 3789085 w 3789085"/>
              <a:gd name="connsiteY2" fmla="*/ 0 h 696530"/>
              <a:gd name="connsiteX0" fmla="*/ 0 w 3789085"/>
              <a:gd name="connsiteY0" fmla="*/ 696488 h 696667"/>
              <a:gd name="connsiteX1" fmla="*/ 2177230 w 3789085"/>
              <a:gd name="connsiteY1" fmla="*/ 473192 h 696667"/>
              <a:gd name="connsiteX2" fmla="*/ 3789085 w 3789085"/>
              <a:gd name="connsiteY2" fmla="*/ 0 h 696667"/>
              <a:gd name="connsiteX0" fmla="*/ 0 w 3789085"/>
              <a:gd name="connsiteY0" fmla="*/ 696488 h 696565"/>
              <a:gd name="connsiteX1" fmla="*/ 2177230 w 3789085"/>
              <a:gd name="connsiteY1" fmla="*/ 473192 h 696565"/>
              <a:gd name="connsiteX2" fmla="*/ 3789085 w 3789085"/>
              <a:gd name="connsiteY2" fmla="*/ 0 h 696565"/>
              <a:gd name="connsiteX0" fmla="*/ 0 w 3789085"/>
              <a:gd name="connsiteY0" fmla="*/ 696488 h 696517"/>
              <a:gd name="connsiteX1" fmla="*/ 1863975 w 3789085"/>
              <a:gd name="connsiteY1" fmla="*/ 342689 h 696517"/>
              <a:gd name="connsiteX2" fmla="*/ 3789085 w 3789085"/>
              <a:gd name="connsiteY2" fmla="*/ 0 h 696517"/>
              <a:gd name="connsiteX0" fmla="*/ 0 w 4098836"/>
              <a:gd name="connsiteY0" fmla="*/ 0 h 890983"/>
              <a:gd name="connsiteX1" fmla="*/ 2173726 w 4098836"/>
              <a:gd name="connsiteY1" fmla="*/ 876443 h 890983"/>
              <a:gd name="connsiteX2" fmla="*/ 4098836 w 4098836"/>
              <a:gd name="connsiteY2" fmla="*/ 533754 h 890983"/>
              <a:gd name="connsiteX0" fmla="*/ 0 w 4098836"/>
              <a:gd name="connsiteY0" fmla="*/ 104211 h 754551"/>
              <a:gd name="connsiteX1" fmla="*/ 2119064 w 4098836"/>
              <a:gd name="connsiteY1" fmla="*/ 11959 h 754551"/>
              <a:gd name="connsiteX2" fmla="*/ 4098836 w 4098836"/>
              <a:gd name="connsiteY2" fmla="*/ 637965 h 754551"/>
              <a:gd name="connsiteX0" fmla="*/ 0 w 4123131"/>
              <a:gd name="connsiteY0" fmla="*/ 114785 h 211981"/>
              <a:gd name="connsiteX1" fmla="*/ 2119064 w 4123131"/>
              <a:gd name="connsiteY1" fmla="*/ 22533 h 211981"/>
              <a:gd name="connsiteX2" fmla="*/ 4123131 w 4123131"/>
              <a:gd name="connsiteY2" fmla="*/ 18887 h 21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3131" h="211981">
                <a:moveTo>
                  <a:pt x="0" y="114785"/>
                </a:moveTo>
                <a:cubicBezTo>
                  <a:pt x="712207" y="117688"/>
                  <a:pt x="1328834" y="169867"/>
                  <a:pt x="2119064" y="22533"/>
                </a:cubicBezTo>
                <a:cubicBezTo>
                  <a:pt x="2909294" y="-124801"/>
                  <a:pt x="3253661" y="517657"/>
                  <a:pt x="4123131" y="18887"/>
                </a:cubicBezTo>
              </a:path>
            </a:pathLst>
          </a:custGeom>
          <a:noFill/>
          <a:ln w="50800">
            <a:solidFill>
              <a:srgbClr val="D83C3C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6441F91-C0E8-87AA-532F-5A8B56835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436" y="4401543"/>
            <a:ext cx="6306701" cy="19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7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"/>
    </mc:Choice>
    <mc:Fallback xmlns="">
      <p:transition spd="slow" advTm="43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3EFE-30A0-A086-F80F-42C701B7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BACD637-DF16-A7E5-E3E8-B211BEBD6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474" y="1397451"/>
            <a:ext cx="4813684" cy="492866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20A33F-0598-1545-CF8B-89A9D795B13C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卷积码译码</a:t>
            </a:r>
            <a:r>
              <a:rPr lang="en-US" altLang="zh-CN" sz="3600">
                <a:solidFill>
                  <a:srgbClr val="1B1C1D"/>
                </a:solidFill>
                <a:latin typeface="+mj-ea"/>
                <a:ea typeface="+mj-ea"/>
              </a:rPr>
              <a:t>——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硬维特比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FB81DC-AD6D-4E4E-C693-6159B36DD64F}"/>
              </a:ext>
            </a:extLst>
          </p:cNvPr>
          <p:cNvSpPr txBox="1"/>
          <p:nvPr/>
        </p:nvSpPr>
        <p:spPr>
          <a:xfrm>
            <a:off x="970424" y="1708302"/>
            <a:ext cx="5138509" cy="42319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spcBef>
                <a:spcPts val="600"/>
              </a:spcBef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 Sans"/>
                <a:ea typeface="OPPO Sans"/>
                <a:cs typeface="+mn-cs"/>
              </a:rPr>
              <a:t>1.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 Sans"/>
                <a:ea typeface="OPPO Sans"/>
                <a:cs typeface="+mn-cs"/>
              </a:rPr>
              <a:t> </a:t>
            </a:r>
            <a:r>
              <a:rPr lang="zh-CN" altLang="en-US" sz="2400" b="1">
                <a:latin typeface="+mn-ea"/>
              </a:rPr>
              <a:t>分支度量计算</a:t>
            </a:r>
            <a:endParaRPr lang="en-US" altLang="zh-CN" sz="2400" b="1">
              <a:latin typeface="+mn-ea"/>
            </a:endParaRPr>
          </a:p>
          <a:p>
            <a:pPr fontAlgn="base">
              <a:spcBef>
                <a:spcPts val="600"/>
              </a:spcBef>
            </a:pPr>
            <a:r>
              <a:rPr lang="zh-CN" altLang="en-US">
                <a:latin typeface="+mn-ea"/>
              </a:rPr>
              <a:t>比较接收码字与各分支的输出码字，计算两者汉明距离并记录，作为分支度量。</a:t>
            </a:r>
            <a:endParaRPr lang="en-US" altLang="zh-CN">
              <a:latin typeface="+mn-ea"/>
            </a:endParaRPr>
          </a:p>
          <a:p>
            <a:pPr rtl="0" fontAlgn="base">
              <a:spcBef>
                <a:spcPts val="600"/>
              </a:spcBef>
            </a:pPr>
            <a:endParaRPr lang="en-US" altLang="zh-CN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en-US" altLang="zh-CN" sz="2400" b="1">
                <a:latin typeface="+mn-ea"/>
              </a:rPr>
              <a:t>2. </a:t>
            </a:r>
            <a:r>
              <a:rPr lang="zh-CN" altLang="en-US" sz="2400" b="1">
                <a:latin typeface="+mn-ea"/>
              </a:rPr>
              <a:t>加</a:t>
            </a:r>
            <a:r>
              <a:rPr lang="en-US" altLang="zh-CN" sz="2400" b="1">
                <a:latin typeface="+mn-ea"/>
              </a:rPr>
              <a:t>-</a:t>
            </a:r>
            <a:r>
              <a:rPr lang="zh-CN" altLang="en-US" sz="2400" b="1">
                <a:latin typeface="+mn-ea"/>
              </a:rPr>
              <a:t>比</a:t>
            </a:r>
            <a:r>
              <a:rPr lang="en-US" altLang="zh-CN" sz="2400" b="1">
                <a:latin typeface="+mn-ea"/>
              </a:rPr>
              <a:t>-</a:t>
            </a:r>
            <a:r>
              <a:rPr lang="zh-CN" altLang="en-US" sz="2400" b="1">
                <a:latin typeface="+mn-ea"/>
              </a:rPr>
              <a:t>选计算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/>
              <a:t>遍历层，计算一层内每个状态节点来自两个来源分支和旧状态的累积度量，进行比较，选取更小的那一个作为新状态的累积度量。</a:t>
            </a:r>
            <a:endParaRPr lang="en-US" altLang="zh-CN"/>
          </a:p>
          <a:p>
            <a:pPr rtl="0" fontAlgn="base">
              <a:spcBef>
                <a:spcPts val="600"/>
              </a:spcBef>
            </a:pPr>
            <a:endParaRPr lang="en-US" altLang="zh-CN"/>
          </a:p>
          <a:p>
            <a:pPr rtl="0" fontAlgn="base">
              <a:spcBef>
                <a:spcPts val="600"/>
              </a:spcBef>
            </a:pPr>
            <a:r>
              <a:rPr lang="en-US" altLang="zh-CN" sz="2400" b="1">
                <a:latin typeface="+mn-ea"/>
              </a:rPr>
              <a:t>3. </a:t>
            </a:r>
            <a:r>
              <a:rPr lang="zh-CN" altLang="en-US" sz="2400" b="1">
                <a:latin typeface="+mn-ea"/>
              </a:rPr>
              <a:t>回溯计算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/>
              <a:t>从末状态回溯分支表。从确定的末状态根据此前记录的分支表确定每个信息位的符号。</a:t>
            </a:r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8AFE76-B65F-AB8F-B2C8-DB1AB121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0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"/>
    </mc:Choice>
    <mc:Fallback xmlns="">
      <p:transition spd="slow" advTm="4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314E3-9D4D-1931-1E7E-BEC7D61B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6B3E158-B265-0601-BB22-B283AFD18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313" y="1794617"/>
            <a:ext cx="6068062" cy="393207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252DF6A-80D4-0F8D-10FB-263FE46C5DFB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卷积码译码</a:t>
            </a:r>
            <a:r>
              <a:rPr lang="en-US" altLang="zh-CN" sz="3600">
                <a:solidFill>
                  <a:srgbClr val="1B1C1D"/>
                </a:solidFill>
                <a:latin typeface="+mj-ea"/>
                <a:ea typeface="+mj-ea"/>
              </a:rPr>
              <a:t>——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软维特比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2EAAE8-3083-BBA1-8A63-13984DE595DF}"/>
              </a:ext>
            </a:extLst>
          </p:cNvPr>
          <p:cNvSpPr txBox="1"/>
          <p:nvPr/>
        </p:nvSpPr>
        <p:spPr>
          <a:xfrm>
            <a:off x="875852" y="2744197"/>
            <a:ext cx="4153075" cy="13696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汉明距离→欧氏距离</a:t>
            </a:r>
            <a:endParaRPr lang="en-US" altLang="zh-CN" sz="2400" b="1">
              <a:latin typeface="+mn-ea"/>
            </a:endParaRPr>
          </a:p>
          <a:p>
            <a:pPr algn="just" rtl="0" fontAlgn="base">
              <a:spcBef>
                <a:spcPts val="600"/>
              </a:spcBef>
            </a:pPr>
            <a:r>
              <a:rPr lang="zh-CN" altLang="en-US">
                <a:latin typeface="+mn-ea"/>
              </a:rPr>
              <a:t>软判决之于硬判决的区别：</a:t>
            </a:r>
            <a:r>
              <a:rPr lang="en-US" altLang="zh-CN">
                <a:latin typeface="+mn-ea"/>
              </a:rPr>
              <a:t>BM</a:t>
            </a:r>
            <a:r>
              <a:rPr lang="zh-CN" altLang="en-US">
                <a:latin typeface="+mn-ea"/>
              </a:rPr>
              <a:t>计算中的汉明距离计算替换为欧氏距离计算，实现软信息的利用。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D9D823-E3B7-C9FF-B9F7-B2937B4F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56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"/>
    </mc:Choice>
    <mc:Fallback xmlns="">
      <p:transition spd="slow" advTm="43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E66E5-58B4-1007-3056-44F6DD309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51CA229-D2C3-CC07-A475-87F1A32BE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672" y="1612630"/>
            <a:ext cx="6150280" cy="440352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37777DE-DDF5-526C-DC21-F85BD11E881D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卷积码译码</a:t>
            </a:r>
            <a:r>
              <a:rPr lang="en-US" altLang="zh-CN" sz="3600">
                <a:solidFill>
                  <a:srgbClr val="1B1C1D"/>
                </a:solidFill>
                <a:latin typeface="+mj-ea"/>
                <a:ea typeface="+mj-ea"/>
              </a:rPr>
              <a:t>——BCJR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译码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36FC63-3536-DFD2-09A6-815696980609}"/>
              </a:ext>
            </a:extLst>
          </p:cNvPr>
          <p:cNvSpPr txBox="1"/>
          <p:nvPr/>
        </p:nvSpPr>
        <p:spPr>
          <a:xfrm>
            <a:off x="884153" y="1529274"/>
            <a:ext cx="4289582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spcBef>
                <a:spcPts val="600"/>
              </a:spcBef>
            </a:pPr>
            <a:r>
              <a:rPr lang="en-US" altLang="zh-CN" sz="2400" b="1">
                <a:latin typeface="+mn-ea"/>
              </a:rPr>
              <a:t>1. </a:t>
            </a:r>
            <a:r>
              <a:rPr lang="en-US" altLang="zh-CN" sz="1600" b="1">
                <a:latin typeface="+mn-ea"/>
              </a:rPr>
              <a:t> </a:t>
            </a:r>
            <a:r>
              <a:rPr lang="zh-CN" altLang="en-US" sz="2400" b="1">
                <a:latin typeface="+mn-ea"/>
              </a:rPr>
              <a:t>计算分支转移概率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>
                <a:latin typeface="+mn-ea"/>
              </a:rPr>
              <a:t>根据先验信息与信道观察计算</a:t>
            </a:r>
            <a:r>
              <a:rPr lang="en-US" altLang="zh-CN">
                <a:latin typeface="+mn-ea"/>
              </a:rPr>
              <a:t>trellis</a:t>
            </a:r>
            <a:r>
              <a:rPr lang="zh-CN" altLang="en-US">
                <a:latin typeface="+mn-ea"/>
              </a:rPr>
              <a:t>图中每条分支的转移概率。</a:t>
            </a:r>
            <a:endParaRPr lang="en-US" altLang="zh-CN">
              <a:latin typeface="+mn-ea"/>
            </a:endParaRPr>
          </a:p>
          <a:p>
            <a:pPr rtl="0" fontAlgn="base">
              <a:spcBef>
                <a:spcPts val="600"/>
              </a:spcBef>
            </a:pPr>
            <a:endParaRPr lang="en-US" altLang="zh-CN" sz="1400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en-US" altLang="zh-CN" sz="2400" b="1">
                <a:latin typeface="+mn-ea"/>
              </a:rPr>
              <a:t>2. </a:t>
            </a:r>
            <a:r>
              <a:rPr lang="zh-CN" altLang="en-US" sz="2400" b="1">
                <a:latin typeface="+mn-ea"/>
              </a:rPr>
              <a:t>前向过程计算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/>
              <a:t>根据分支转移概率递推计算前向状态概率。</a:t>
            </a:r>
            <a:endParaRPr lang="en-US" altLang="zh-CN"/>
          </a:p>
          <a:p>
            <a:pPr rtl="0" fontAlgn="base">
              <a:spcBef>
                <a:spcPts val="600"/>
              </a:spcBef>
            </a:pPr>
            <a:endParaRPr lang="en-US" altLang="zh-CN" sz="1400"/>
          </a:p>
          <a:p>
            <a:pPr rtl="0" fontAlgn="base">
              <a:spcBef>
                <a:spcPts val="600"/>
              </a:spcBef>
            </a:pPr>
            <a:r>
              <a:rPr lang="en-US" altLang="zh-CN" sz="2400" b="1">
                <a:latin typeface="+mn-ea"/>
              </a:rPr>
              <a:t>3. </a:t>
            </a:r>
            <a:r>
              <a:rPr lang="zh-CN" altLang="en-US" sz="2400" b="1">
                <a:latin typeface="+mn-ea"/>
              </a:rPr>
              <a:t>后向过程计算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/>
              <a:t>根据分支转移概率倒推计算后向状态概率。</a:t>
            </a:r>
            <a:endParaRPr lang="en-US" altLang="zh-CN"/>
          </a:p>
          <a:p>
            <a:pPr rtl="0" fontAlgn="base">
              <a:spcBef>
                <a:spcPts val="600"/>
              </a:spcBef>
            </a:pPr>
            <a:endParaRPr lang="zh-CN" altLang="en-US" sz="1400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en-US" altLang="zh-CN" sz="2400" b="1">
                <a:latin typeface="+mn-ea"/>
              </a:rPr>
              <a:t>4. </a:t>
            </a:r>
            <a:r>
              <a:rPr lang="zh-CN" altLang="en-US" sz="2400" b="1">
                <a:latin typeface="+mn-ea"/>
              </a:rPr>
              <a:t>计算后验概率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/>
              <a:t>利用前向、后向与分支转移概率计算结果计算每个信息位的后验概率。</a:t>
            </a:r>
            <a:endParaRPr lang="zh-CN" altLang="en-US">
              <a:latin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B2ECC3-F5A5-37F5-46B4-92AA86A3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08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"/>
    </mc:Choice>
    <mc:Fallback xmlns="">
      <p:transition spd="slow" advTm="43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1751-7F92-0D82-934F-40E1227F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AE45E0B-973A-03B9-BEA0-817E0E05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ADCD74E3-EC8F-811F-4DAE-282888FB9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9591" y="1612109"/>
            <a:ext cx="5306442" cy="424304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E086411-5864-BF50-C6F5-93A0C9A25793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卷积码译码器性能比较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1A98CD-EEC8-0A2B-F2A1-37E945B78DD7}"/>
              </a:ext>
            </a:extLst>
          </p:cNvPr>
          <p:cNvSpPr txBox="1"/>
          <p:nvPr/>
        </p:nvSpPr>
        <p:spPr>
          <a:xfrm>
            <a:off x="921310" y="1929364"/>
            <a:ext cx="4329115" cy="32470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实现细节</a:t>
            </a:r>
            <a:endParaRPr lang="en-US" altLang="zh-CN" sz="2400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>
                <a:latin typeface="+mn-ea"/>
              </a:rPr>
              <a:t>卷积码采用 </a:t>
            </a:r>
            <a:r>
              <a:rPr lang="en-US" altLang="zh-CN">
                <a:latin typeface="+mn-ea"/>
              </a:rPr>
              <a:t>(7, 5)</a:t>
            </a:r>
            <a:r>
              <a:rPr lang="en-US" altLang="zh-CN" baseline="-25000">
                <a:latin typeface="+mn-ea"/>
              </a:rPr>
              <a:t>8</a:t>
            </a:r>
            <a:r>
              <a:rPr lang="zh-CN" altLang="en-US">
                <a:latin typeface="+mn-ea"/>
              </a:rPr>
              <a:t> 码结构编码，软维特比与 </a:t>
            </a:r>
            <a:r>
              <a:rPr lang="en-US" altLang="zh-CN">
                <a:latin typeface="+mn-ea"/>
              </a:rPr>
              <a:t>BCJR </a:t>
            </a:r>
            <a:r>
              <a:rPr lang="zh-CN" altLang="en-US">
                <a:latin typeface="+mn-ea"/>
              </a:rPr>
              <a:t>译码器均无量化。译码器误码性能评估以误码率</a:t>
            </a:r>
            <a:r>
              <a:rPr lang="en-US" altLang="zh-CN">
                <a:latin typeface="+mn-ea"/>
              </a:rPr>
              <a:t>-</a:t>
            </a:r>
            <a:r>
              <a:rPr lang="zh-CN" altLang="en-US">
                <a:latin typeface="+mn-ea"/>
              </a:rPr>
              <a:t>信噪比为指标。</a:t>
            </a:r>
            <a:endParaRPr lang="en-US" altLang="zh-CN" baseline="-25000">
              <a:latin typeface="+mn-ea"/>
            </a:endParaRPr>
          </a:p>
          <a:p>
            <a:pPr rtl="0" fontAlgn="base">
              <a:spcBef>
                <a:spcPts val="600"/>
              </a:spcBef>
            </a:pP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性能比较</a:t>
            </a:r>
            <a:endParaRPr lang="en-US" altLang="zh-CN" sz="2400" b="1">
              <a:latin typeface="+mn-ea"/>
            </a:endParaRPr>
          </a:p>
          <a:p>
            <a:pPr marL="342900" indent="-342900" rtl="0" fontAlgn="base">
              <a:spcBef>
                <a:spcPts val="600"/>
              </a:spcBef>
              <a:buAutoNum type="arabicPeriod"/>
            </a:pPr>
            <a:r>
              <a:rPr lang="zh-CN" altLang="en-US"/>
              <a:t>软维特比译码与 </a:t>
            </a:r>
            <a:r>
              <a:rPr lang="en-US" altLang="zh-CN"/>
              <a:t>BCJR </a:t>
            </a:r>
            <a:r>
              <a:rPr lang="zh-CN" altLang="en-US"/>
              <a:t>译码误码性能相近（</a:t>
            </a:r>
            <a:r>
              <a:rPr lang="en-US" altLang="zh-CN"/>
              <a:t>BCJR </a:t>
            </a:r>
            <a:r>
              <a:rPr lang="zh-CN" altLang="en-US"/>
              <a:t>略逊于软维特比）</a:t>
            </a:r>
            <a:endParaRPr lang="en-US" altLang="zh-CN"/>
          </a:p>
          <a:p>
            <a:pPr marL="342900" indent="-342900" rtl="0" fontAlgn="base">
              <a:spcBef>
                <a:spcPts val="600"/>
              </a:spcBef>
              <a:buAutoNum type="arabicPeriod"/>
            </a:pPr>
            <a:r>
              <a:rPr lang="zh-CN" altLang="en-US"/>
              <a:t>硬维特比误码性能弱于前两者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85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"/>
    </mc:Choice>
    <mc:Fallback xmlns="">
      <p:transition spd="slow" advTm="43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695C-88E0-A5C8-E383-3F3372DE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D90880-5EB2-AE9A-F23E-98136EAF0F9D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en-US" altLang="zh-CN" sz="3600">
                <a:solidFill>
                  <a:srgbClr val="1B1C1D"/>
                </a:solidFill>
                <a:latin typeface="+mj-ea"/>
                <a:ea typeface="+mj-ea"/>
              </a:rPr>
              <a:t>Turbo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码编码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6B9170-38B0-4384-D90F-1FF13D170BB3}"/>
              </a:ext>
            </a:extLst>
          </p:cNvPr>
          <p:cNvSpPr txBox="1"/>
          <p:nvPr/>
        </p:nvSpPr>
        <p:spPr>
          <a:xfrm>
            <a:off x="554282" y="2191202"/>
            <a:ext cx="4884215" cy="40472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序列交织</a:t>
            </a:r>
            <a:endParaRPr lang="en-US" altLang="zh-CN" sz="2400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>
                <a:latin typeface="+mn-ea"/>
              </a:rPr>
              <a:t>引入随机性，提高低重码字重量。</a:t>
            </a:r>
            <a:endParaRPr lang="en-US" altLang="zh-CN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并联卷积码编码</a:t>
            </a: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/>
              <a:t>使用两个结构相同的 </a:t>
            </a:r>
            <a:r>
              <a:rPr lang="en-US" altLang="zh-CN"/>
              <a:t>RSC </a:t>
            </a:r>
            <a:r>
              <a:rPr lang="zh-CN" altLang="en-US"/>
              <a:t>码进行编码，输出与反馈多项式由 </a:t>
            </a:r>
            <a:r>
              <a:rPr lang="en-US" altLang="zh-CN"/>
              <a:t>CCSDS </a:t>
            </a:r>
            <a:r>
              <a:rPr lang="zh-CN" altLang="en-US"/>
              <a:t>规定。</a:t>
            </a:r>
            <a:endParaRPr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 Sans"/>
                <a:ea typeface="OPPO Sans"/>
                <a:cs typeface="+mn-cs"/>
              </a:rPr>
              <a:t>输出打孔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 Sans"/>
                <a:ea typeface="OPPO Sans"/>
                <a:cs typeface="+mn-cs"/>
              </a:rPr>
              <a:t>使用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 Sans"/>
                <a:ea typeface="OPPO Sans"/>
                <a:cs typeface="+mn-cs"/>
              </a:rPr>
              <a:t>CCSDS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 Sans"/>
                <a:ea typeface="OPPO Sans"/>
                <a:cs typeface="+mn-cs"/>
              </a:rPr>
              <a:t>规定的打孔序列进行输出码元的选取，选取不同打孔序列以适应不同码率传输需求。</a:t>
            </a:r>
            <a:endParaRPr lang="en-US" altLang="zh-CN">
              <a:solidFill>
                <a:prstClr val="black"/>
              </a:solidFill>
              <a:latin typeface="OPPO Sans"/>
              <a:ea typeface="OPPO San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>
                <a:solidFill>
                  <a:prstClr val="black"/>
                </a:solidFill>
                <a:latin typeface="OPPO Sans"/>
                <a:ea typeface="OPPO Sans"/>
              </a:rPr>
              <a:t>状态归零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>
                <a:solidFill>
                  <a:prstClr val="black"/>
                </a:solidFill>
                <a:latin typeface="OPPO Sans"/>
                <a:ea typeface="OPPO Sans"/>
              </a:rPr>
              <a:t>切换码元输入支路到反馈输出，即直接使寄存器序列输入为</a:t>
            </a:r>
            <a:r>
              <a:rPr lang="en-US" altLang="zh-CN">
                <a:solidFill>
                  <a:prstClr val="black"/>
                </a:solidFill>
                <a:latin typeface="OPPO Sans"/>
                <a:ea typeface="OPPO Sans"/>
              </a:rPr>
              <a:t>0</a:t>
            </a:r>
            <a:r>
              <a:rPr lang="zh-CN" altLang="en-US">
                <a:solidFill>
                  <a:prstClr val="black"/>
                </a:solidFill>
                <a:latin typeface="OPPO Sans"/>
                <a:ea typeface="OPPO Sans"/>
              </a:rPr>
              <a:t>，可以实现两个 </a:t>
            </a:r>
            <a:r>
              <a:rPr lang="en-US" altLang="zh-CN">
                <a:solidFill>
                  <a:prstClr val="black"/>
                </a:solidFill>
                <a:latin typeface="OPPO Sans"/>
                <a:ea typeface="OPPO Sans"/>
              </a:rPr>
              <a:t>RSC </a:t>
            </a:r>
            <a:r>
              <a:rPr lang="zh-CN" altLang="en-US">
                <a:solidFill>
                  <a:prstClr val="black"/>
                </a:solidFill>
                <a:latin typeface="OPPO Sans"/>
                <a:ea typeface="OPPO Sans"/>
              </a:rPr>
              <a:t>的归零。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3238576-3BD7-05EA-981F-0B4EF458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6527BB-BC10-D6E1-4959-29CAD6DF8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069" y="1744011"/>
            <a:ext cx="6527575" cy="4529073"/>
          </a:xfrm>
          <a:prstGeom prst="rect">
            <a:avLst/>
          </a:pr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3BA00C4-9843-F8DD-DBFA-1DFE5028C13B}"/>
              </a:ext>
            </a:extLst>
          </p:cNvPr>
          <p:cNvSpPr/>
          <p:nvPr/>
        </p:nvSpPr>
        <p:spPr>
          <a:xfrm>
            <a:off x="1946550" y="4558499"/>
            <a:ext cx="5870096" cy="887645"/>
          </a:xfrm>
          <a:custGeom>
            <a:avLst/>
            <a:gdLst>
              <a:gd name="connsiteX0" fmla="*/ 0 w 6468948"/>
              <a:gd name="connsiteY0" fmla="*/ 745660 h 1393360"/>
              <a:gd name="connsiteX1" fmla="*/ 2156460 w 6468948"/>
              <a:gd name="connsiteY1" fmla="*/ 128440 h 1393360"/>
              <a:gd name="connsiteX2" fmla="*/ 6179820 w 6468948"/>
              <a:gd name="connsiteY2" fmla="*/ 75100 h 1393360"/>
              <a:gd name="connsiteX3" fmla="*/ 6134100 w 6468948"/>
              <a:gd name="connsiteY3" fmla="*/ 981880 h 1393360"/>
              <a:gd name="connsiteX4" fmla="*/ 6012180 w 6468948"/>
              <a:gd name="connsiteY4" fmla="*/ 1393360 h 1393360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083574"/>
              <a:gd name="connsiteY0" fmla="*/ 849316 h 1497016"/>
              <a:gd name="connsiteX1" fmla="*/ 2451735 w 6083574"/>
              <a:gd name="connsiteY1" fmla="*/ 74933 h 1497016"/>
              <a:gd name="connsiteX2" fmla="*/ 5732145 w 6083574"/>
              <a:gd name="connsiteY2" fmla="*/ 131131 h 1497016"/>
              <a:gd name="connsiteX3" fmla="*/ 5972175 w 6083574"/>
              <a:gd name="connsiteY3" fmla="*/ 966473 h 1497016"/>
              <a:gd name="connsiteX4" fmla="*/ 6012180 w 6083574"/>
              <a:gd name="connsiteY4" fmla="*/ 1497016 h 1497016"/>
              <a:gd name="connsiteX0" fmla="*/ 0 w 6012900"/>
              <a:gd name="connsiteY0" fmla="*/ 835417 h 1483117"/>
              <a:gd name="connsiteX1" fmla="*/ 2451735 w 6012900"/>
              <a:gd name="connsiteY1" fmla="*/ 61034 h 1483117"/>
              <a:gd name="connsiteX2" fmla="*/ 5274945 w 6012900"/>
              <a:gd name="connsiteY2" fmla="*/ 150570 h 1483117"/>
              <a:gd name="connsiteX3" fmla="*/ 5972175 w 6012900"/>
              <a:gd name="connsiteY3" fmla="*/ 952574 h 1483117"/>
              <a:gd name="connsiteX4" fmla="*/ 6012180 w 6012900"/>
              <a:gd name="connsiteY4" fmla="*/ 1483117 h 1483117"/>
              <a:gd name="connsiteX0" fmla="*/ 0 w 6012900"/>
              <a:gd name="connsiteY0" fmla="*/ 820860 h 1468560"/>
              <a:gd name="connsiteX1" fmla="*/ 2451735 w 6012900"/>
              <a:gd name="connsiteY1" fmla="*/ 46477 h 1468560"/>
              <a:gd name="connsiteX2" fmla="*/ 5042464 w 6012900"/>
              <a:gd name="connsiteY2" fmla="*/ 179556 h 1468560"/>
              <a:gd name="connsiteX3" fmla="*/ 5972175 w 6012900"/>
              <a:gd name="connsiteY3" fmla="*/ 938017 h 1468560"/>
              <a:gd name="connsiteX4" fmla="*/ 6012180 w 6012900"/>
              <a:gd name="connsiteY4" fmla="*/ 1468560 h 1468560"/>
              <a:gd name="connsiteX0" fmla="*/ 0 w 6013021"/>
              <a:gd name="connsiteY0" fmla="*/ 804040 h 1451740"/>
              <a:gd name="connsiteX1" fmla="*/ 2451735 w 6013021"/>
              <a:gd name="connsiteY1" fmla="*/ 29657 h 1451740"/>
              <a:gd name="connsiteX2" fmla="*/ 5042464 w 6013021"/>
              <a:gd name="connsiteY2" fmla="*/ 162736 h 1451740"/>
              <a:gd name="connsiteX3" fmla="*/ 5983911 w 6013021"/>
              <a:gd name="connsiteY3" fmla="*/ 182643 h 1451740"/>
              <a:gd name="connsiteX4" fmla="*/ 6012180 w 6013021"/>
              <a:gd name="connsiteY4" fmla="*/ 1451740 h 1451740"/>
              <a:gd name="connsiteX0" fmla="*/ 0 w 6012180"/>
              <a:gd name="connsiteY0" fmla="*/ 841976 h 1489676"/>
              <a:gd name="connsiteX1" fmla="*/ 2451735 w 6012180"/>
              <a:gd name="connsiteY1" fmla="*/ 67593 h 1489676"/>
              <a:gd name="connsiteX2" fmla="*/ 5042464 w 6012180"/>
              <a:gd name="connsiteY2" fmla="*/ 200672 h 1489676"/>
              <a:gd name="connsiteX3" fmla="*/ 6012180 w 6012180"/>
              <a:gd name="connsiteY3" fmla="*/ 1489676 h 1489676"/>
              <a:gd name="connsiteX0" fmla="*/ 0 w 5712917"/>
              <a:gd name="connsiteY0" fmla="*/ 813650 h 813671"/>
              <a:gd name="connsiteX1" fmla="*/ 2451735 w 5712917"/>
              <a:gd name="connsiteY1" fmla="*/ 39267 h 813671"/>
              <a:gd name="connsiteX2" fmla="*/ 5042464 w 5712917"/>
              <a:gd name="connsiteY2" fmla="*/ 172346 h 813671"/>
              <a:gd name="connsiteX3" fmla="*/ 5712917 w 5712917"/>
              <a:gd name="connsiteY3" fmla="*/ 675904 h 813671"/>
              <a:gd name="connsiteX0" fmla="*/ 0 w 5712917"/>
              <a:gd name="connsiteY0" fmla="*/ 863703 h 863725"/>
              <a:gd name="connsiteX1" fmla="*/ 2451735 w 5712917"/>
              <a:gd name="connsiteY1" fmla="*/ 89320 h 863725"/>
              <a:gd name="connsiteX2" fmla="*/ 3645901 w 5712917"/>
              <a:gd name="connsiteY2" fmla="*/ 87584 h 863725"/>
              <a:gd name="connsiteX3" fmla="*/ 5712917 w 5712917"/>
              <a:gd name="connsiteY3" fmla="*/ 725957 h 863725"/>
              <a:gd name="connsiteX0" fmla="*/ 0 w 3645901"/>
              <a:gd name="connsiteY0" fmla="*/ 863703 h 863725"/>
              <a:gd name="connsiteX1" fmla="*/ 2451735 w 3645901"/>
              <a:gd name="connsiteY1" fmla="*/ 89320 h 863725"/>
              <a:gd name="connsiteX2" fmla="*/ 3645901 w 3645901"/>
              <a:gd name="connsiteY2" fmla="*/ 87584 h 863725"/>
              <a:gd name="connsiteX0" fmla="*/ 0 w 3974505"/>
              <a:gd name="connsiteY0" fmla="*/ 774405 h 774424"/>
              <a:gd name="connsiteX1" fmla="*/ 2451735 w 3974505"/>
              <a:gd name="connsiteY1" fmla="*/ 22 h 774424"/>
              <a:gd name="connsiteX2" fmla="*/ 3974505 w 3974505"/>
              <a:gd name="connsiteY2" fmla="*/ 748563 h 774424"/>
              <a:gd name="connsiteX0" fmla="*/ 0 w 3974505"/>
              <a:gd name="connsiteY0" fmla="*/ 52533 h 169219"/>
              <a:gd name="connsiteX1" fmla="*/ 1706510 w 3974505"/>
              <a:gd name="connsiteY1" fmla="*/ 169103 h 169219"/>
              <a:gd name="connsiteX2" fmla="*/ 3974505 w 3974505"/>
              <a:gd name="connsiteY2" fmla="*/ 26691 h 169219"/>
              <a:gd name="connsiteX0" fmla="*/ 0 w 3974505"/>
              <a:gd name="connsiteY0" fmla="*/ 52533 h 169219"/>
              <a:gd name="connsiteX1" fmla="*/ 1853208 w 3974505"/>
              <a:gd name="connsiteY1" fmla="*/ 169103 h 169219"/>
              <a:gd name="connsiteX2" fmla="*/ 3974505 w 3974505"/>
              <a:gd name="connsiteY2" fmla="*/ 26691 h 169219"/>
              <a:gd name="connsiteX0" fmla="*/ 0 w 3974505"/>
              <a:gd name="connsiteY0" fmla="*/ 125412 h 125528"/>
              <a:gd name="connsiteX1" fmla="*/ 1853208 w 3974505"/>
              <a:gd name="connsiteY1" fmla="*/ 1659 h 125528"/>
              <a:gd name="connsiteX2" fmla="*/ 3974505 w 3974505"/>
              <a:gd name="connsiteY2" fmla="*/ 99570 h 125528"/>
              <a:gd name="connsiteX0" fmla="*/ 0 w 3974505"/>
              <a:gd name="connsiteY0" fmla="*/ 123778 h 282631"/>
              <a:gd name="connsiteX1" fmla="*/ 1853208 w 3974505"/>
              <a:gd name="connsiteY1" fmla="*/ 25 h 282631"/>
              <a:gd name="connsiteX2" fmla="*/ 3974505 w 3974505"/>
              <a:gd name="connsiteY2" fmla="*/ 97936 h 282631"/>
              <a:gd name="connsiteX0" fmla="*/ 0 w 4050788"/>
              <a:gd name="connsiteY0" fmla="*/ 123754 h 302039"/>
              <a:gd name="connsiteX1" fmla="*/ 1853208 w 4050788"/>
              <a:gd name="connsiteY1" fmla="*/ 1 h 302039"/>
              <a:gd name="connsiteX2" fmla="*/ 4050788 w 4050788"/>
              <a:gd name="connsiteY2" fmla="*/ 121358 h 302039"/>
              <a:gd name="connsiteX0" fmla="*/ 0 w 3617746"/>
              <a:gd name="connsiteY0" fmla="*/ 161678 h 218356"/>
              <a:gd name="connsiteX1" fmla="*/ 1853208 w 3617746"/>
              <a:gd name="connsiteY1" fmla="*/ 37925 h 218356"/>
              <a:gd name="connsiteX2" fmla="*/ 3617746 w 3617746"/>
              <a:gd name="connsiteY2" fmla="*/ 0 h 218356"/>
              <a:gd name="connsiteX0" fmla="*/ 0 w 5428653"/>
              <a:gd name="connsiteY0" fmla="*/ 126282 h 218356"/>
              <a:gd name="connsiteX1" fmla="*/ 3664115 w 5428653"/>
              <a:gd name="connsiteY1" fmla="*/ 37925 h 218356"/>
              <a:gd name="connsiteX2" fmla="*/ 5428653 w 5428653"/>
              <a:gd name="connsiteY2" fmla="*/ 0 h 218356"/>
              <a:gd name="connsiteX0" fmla="*/ 0 w 5428653"/>
              <a:gd name="connsiteY0" fmla="*/ 165049 h 237233"/>
              <a:gd name="connsiteX1" fmla="*/ 2412228 w 5428653"/>
              <a:gd name="connsiteY1" fmla="*/ 0 h 237233"/>
              <a:gd name="connsiteX2" fmla="*/ 5428653 w 5428653"/>
              <a:gd name="connsiteY2" fmla="*/ 38767 h 237233"/>
              <a:gd name="connsiteX0" fmla="*/ 0 w 7971795"/>
              <a:gd name="connsiteY0" fmla="*/ 745715 h 745801"/>
              <a:gd name="connsiteX1" fmla="*/ 2412228 w 7971795"/>
              <a:gd name="connsiteY1" fmla="*/ 580666 h 745801"/>
              <a:gd name="connsiteX2" fmla="*/ 7971795 w 7971795"/>
              <a:gd name="connsiteY2" fmla="*/ 0 h 745801"/>
              <a:gd name="connsiteX0" fmla="*/ 0 w 7974498"/>
              <a:gd name="connsiteY0" fmla="*/ 745715 h 745801"/>
              <a:gd name="connsiteX1" fmla="*/ 2412228 w 7974498"/>
              <a:gd name="connsiteY1" fmla="*/ 580666 h 745801"/>
              <a:gd name="connsiteX2" fmla="*/ 7971795 w 7974498"/>
              <a:gd name="connsiteY2" fmla="*/ 0 h 745801"/>
              <a:gd name="connsiteX0" fmla="*/ 0 w 7801375"/>
              <a:gd name="connsiteY0" fmla="*/ 739816 h 739902"/>
              <a:gd name="connsiteX1" fmla="*/ 2412228 w 7801375"/>
              <a:gd name="connsiteY1" fmla="*/ 574767 h 739902"/>
              <a:gd name="connsiteX2" fmla="*/ 7798579 w 7801375"/>
              <a:gd name="connsiteY2" fmla="*/ 0 h 739902"/>
              <a:gd name="connsiteX0" fmla="*/ 0 w 7798579"/>
              <a:gd name="connsiteY0" fmla="*/ 739816 h 739902"/>
              <a:gd name="connsiteX1" fmla="*/ 2412228 w 7798579"/>
              <a:gd name="connsiteY1" fmla="*/ 574767 h 739902"/>
              <a:gd name="connsiteX2" fmla="*/ 5653496 w 7798579"/>
              <a:gd name="connsiteY2" fmla="*/ 125588 h 739902"/>
              <a:gd name="connsiteX3" fmla="*/ 7798579 w 7798579"/>
              <a:gd name="connsiteY3" fmla="*/ 0 h 739902"/>
              <a:gd name="connsiteX0" fmla="*/ 0 w 7798579"/>
              <a:gd name="connsiteY0" fmla="*/ 739816 h 846138"/>
              <a:gd name="connsiteX1" fmla="*/ 3845206 w 7798579"/>
              <a:gd name="connsiteY1" fmla="*/ 846137 h 846138"/>
              <a:gd name="connsiteX2" fmla="*/ 5653496 w 7798579"/>
              <a:gd name="connsiteY2" fmla="*/ 125588 h 846138"/>
              <a:gd name="connsiteX3" fmla="*/ 7798579 w 7798579"/>
              <a:gd name="connsiteY3" fmla="*/ 0 h 846138"/>
              <a:gd name="connsiteX0" fmla="*/ 0 w 7798579"/>
              <a:gd name="connsiteY0" fmla="*/ 739816 h 822541"/>
              <a:gd name="connsiteX1" fmla="*/ 4262502 w 7798579"/>
              <a:gd name="connsiteY1" fmla="*/ 822540 h 822541"/>
              <a:gd name="connsiteX2" fmla="*/ 5653496 w 7798579"/>
              <a:gd name="connsiteY2" fmla="*/ 125588 h 822541"/>
              <a:gd name="connsiteX3" fmla="*/ 7798579 w 7798579"/>
              <a:gd name="connsiteY3" fmla="*/ 0 h 822541"/>
              <a:gd name="connsiteX0" fmla="*/ 0 w 7798579"/>
              <a:gd name="connsiteY0" fmla="*/ 739816 h 875118"/>
              <a:gd name="connsiteX1" fmla="*/ 4262502 w 7798579"/>
              <a:gd name="connsiteY1" fmla="*/ 822540 h 875118"/>
              <a:gd name="connsiteX2" fmla="*/ 5653496 w 7798579"/>
              <a:gd name="connsiteY2" fmla="*/ 125588 h 875118"/>
              <a:gd name="connsiteX3" fmla="*/ 7798579 w 7798579"/>
              <a:gd name="connsiteY3" fmla="*/ 0 h 875118"/>
              <a:gd name="connsiteX0" fmla="*/ 0 w 7798579"/>
              <a:gd name="connsiteY0" fmla="*/ 739816 h 830830"/>
              <a:gd name="connsiteX1" fmla="*/ 4262502 w 7798579"/>
              <a:gd name="connsiteY1" fmla="*/ 822540 h 830830"/>
              <a:gd name="connsiteX2" fmla="*/ 5653496 w 7798579"/>
              <a:gd name="connsiteY2" fmla="*/ 125588 h 830830"/>
              <a:gd name="connsiteX3" fmla="*/ 7798579 w 7798579"/>
              <a:gd name="connsiteY3" fmla="*/ 0 h 830830"/>
              <a:gd name="connsiteX0" fmla="*/ 0 w 7798579"/>
              <a:gd name="connsiteY0" fmla="*/ 739816 h 876949"/>
              <a:gd name="connsiteX1" fmla="*/ 4262502 w 7798579"/>
              <a:gd name="connsiteY1" fmla="*/ 822540 h 876949"/>
              <a:gd name="connsiteX2" fmla="*/ 5653496 w 7798579"/>
              <a:gd name="connsiteY2" fmla="*/ 125588 h 876949"/>
              <a:gd name="connsiteX3" fmla="*/ 7798579 w 7798579"/>
              <a:gd name="connsiteY3" fmla="*/ 0 h 876949"/>
              <a:gd name="connsiteX0" fmla="*/ 0 w 7798579"/>
              <a:gd name="connsiteY0" fmla="*/ 739816 h 858148"/>
              <a:gd name="connsiteX1" fmla="*/ 4262502 w 7798579"/>
              <a:gd name="connsiteY1" fmla="*/ 822540 h 858148"/>
              <a:gd name="connsiteX2" fmla="*/ 5653496 w 7798579"/>
              <a:gd name="connsiteY2" fmla="*/ 125588 h 858148"/>
              <a:gd name="connsiteX3" fmla="*/ 7798579 w 7798579"/>
              <a:gd name="connsiteY3" fmla="*/ 0 h 858148"/>
              <a:gd name="connsiteX0" fmla="*/ 0 w 7798579"/>
              <a:gd name="connsiteY0" fmla="*/ 739816 h 858148"/>
              <a:gd name="connsiteX1" fmla="*/ 4262502 w 7798579"/>
              <a:gd name="connsiteY1" fmla="*/ 822540 h 858148"/>
              <a:gd name="connsiteX2" fmla="*/ 5653496 w 7798579"/>
              <a:gd name="connsiteY2" fmla="*/ 125588 h 858148"/>
              <a:gd name="connsiteX3" fmla="*/ 7798579 w 7798579"/>
              <a:gd name="connsiteY3" fmla="*/ 0 h 858148"/>
              <a:gd name="connsiteX0" fmla="*/ 0 w 7932429"/>
              <a:gd name="connsiteY0" fmla="*/ 769313 h 887645"/>
              <a:gd name="connsiteX1" fmla="*/ 4262502 w 7932429"/>
              <a:gd name="connsiteY1" fmla="*/ 852037 h 887645"/>
              <a:gd name="connsiteX2" fmla="*/ 5653496 w 7932429"/>
              <a:gd name="connsiteY2" fmla="*/ 155085 h 887645"/>
              <a:gd name="connsiteX3" fmla="*/ 7932429 w 7932429"/>
              <a:gd name="connsiteY3" fmla="*/ 0 h 88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32429" h="887645">
                <a:moveTo>
                  <a:pt x="0" y="769313"/>
                </a:moveTo>
                <a:cubicBezTo>
                  <a:pt x="2551824" y="579080"/>
                  <a:pt x="3634591" y="1010164"/>
                  <a:pt x="4262502" y="852037"/>
                </a:cubicBezTo>
                <a:cubicBezTo>
                  <a:pt x="4836111" y="707585"/>
                  <a:pt x="4755771" y="250880"/>
                  <a:pt x="5653496" y="155085"/>
                </a:cubicBezTo>
                <a:cubicBezTo>
                  <a:pt x="6551221" y="59291"/>
                  <a:pt x="7561793" y="597101"/>
                  <a:pt x="7932429" y="0"/>
                </a:cubicBezTo>
              </a:path>
            </a:pathLst>
          </a:custGeom>
          <a:noFill/>
          <a:ln w="50800">
            <a:solidFill>
              <a:srgbClr val="D83C3C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3DDE80A-ED20-3593-4A1A-9BA79C12005E}"/>
              </a:ext>
            </a:extLst>
          </p:cNvPr>
          <p:cNvSpPr/>
          <p:nvPr/>
        </p:nvSpPr>
        <p:spPr>
          <a:xfrm>
            <a:off x="2804532" y="3026459"/>
            <a:ext cx="4776139" cy="269335"/>
          </a:xfrm>
          <a:custGeom>
            <a:avLst/>
            <a:gdLst>
              <a:gd name="connsiteX0" fmla="*/ 0 w 6468948"/>
              <a:gd name="connsiteY0" fmla="*/ 745660 h 1393360"/>
              <a:gd name="connsiteX1" fmla="*/ 2156460 w 6468948"/>
              <a:gd name="connsiteY1" fmla="*/ 128440 h 1393360"/>
              <a:gd name="connsiteX2" fmla="*/ 6179820 w 6468948"/>
              <a:gd name="connsiteY2" fmla="*/ 75100 h 1393360"/>
              <a:gd name="connsiteX3" fmla="*/ 6134100 w 6468948"/>
              <a:gd name="connsiteY3" fmla="*/ 981880 h 1393360"/>
              <a:gd name="connsiteX4" fmla="*/ 6012180 w 6468948"/>
              <a:gd name="connsiteY4" fmla="*/ 1393360 h 1393360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083574"/>
              <a:gd name="connsiteY0" fmla="*/ 849316 h 1497016"/>
              <a:gd name="connsiteX1" fmla="*/ 2451735 w 6083574"/>
              <a:gd name="connsiteY1" fmla="*/ 74933 h 1497016"/>
              <a:gd name="connsiteX2" fmla="*/ 5732145 w 6083574"/>
              <a:gd name="connsiteY2" fmla="*/ 131131 h 1497016"/>
              <a:gd name="connsiteX3" fmla="*/ 5972175 w 6083574"/>
              <a:gd name="connsiteY3" fmla="*/ 966473 h 1497016"/>
              <a:gd name="connsiteX4" fmla="*/ 6012180 w 6083574"/>
              <a:gd name="connsiteY4" fmla="*/ 1497016 h 1497016"/>
              <a:gd name="connsiteX0" fmla="*/ 0 w 6012900"/>
              <a:gd name="connsiteY0" fmla="*/ 835417 h 1483117"/>
              <a:gd name="connsiteX1" fmla="*/ 2451735 w 6012900"/>
              <a:gd name="connsiteY1" fmla="*/ 61034 h 1483117"/>
              <a:gd name="connsiteX2" fmla="*/ 5274945 w 6012900"/>
              <a:gd name="connsiteY2" fmla="*/ 150570 h 1483117"/>
              <a:gd name="connsiteX3" fmla="*/ 5972175 w 6012900"/>
              <a:gd name="connsiteY3" fmla="*/ 952574 h 1483117"/>
              <a:gd name="connsiteX4" fmla="*/ 6012180 w 6012900"/>
              <a:gd name="connsiteY4" fmla="*/ 1483117 h 1483117"/>
              <a:gd name="connsiteX0" fmla="*/ 0 w 6012900"/>
              <a:gd name="connsiteY0" fmla="*/ 820860 h 1468560"/>
              <a:gd name="connsiteX1" fmla="*/ 2451735 w 6012900"/>
              <a:gd name="connsiteY1" fmla="*/ 46477 h 1468560"/>
              <a:gd name="connsiteX2" fmla="*/ 5042464 w 6012900"/>
              <a:gd name="connsiteY2" fmla="*/ 179556 h 1468560"/>
              <a:gd name="connsiteX3" fmla="*/ 5972175 w 6012900"/>
              <a:gd name="connsiteY3" fmla="*/ 938017 h 1468560"/>
              <a:gd name="connsiteX4" fmla="*/ 6012180 w 6012900"/>
              <a:gd name="connsiteY4" fmla="*/ 1468560 h 1468560"/>
              <a:gd name="connsiteX0" fmla="*/ 0 w 6013021"/>
              <a:gd name="connsiteY0" fmla="*/ 804040 h 1451740"/>
              <a:gd name="connsiteX1" fmla="*/ 2451735 w 6013021"/>
              <a:gd name="connsiteY1" fmla="*/ 29657 h 1451740"/>
              <a:gd name="connsiteX2" fmla="*/ 5042464 w 6013021"/>
              <a:gd name="connsiteY2" fmla="*/ 162736 h 1451740"/>
              <a:gd name="connsiteX3" fmla="*/ 5983911 w 6013021"/>
              <a:gd name="connsiteY3" fmla="*/ 182643 h 1451740"/>
              <a:gd name="connsiteX4" fmla="*/ 6012180 w 6013021"/>
              <a:gd name="connsiteY4" fmla="*/ 1451740 h 1451740"/>
              <a:gd name="connsiteX0" fmla="*/ 0 w 6012180"/>
              <a:gd name="connsiteY0" fmla="*/ 841976 h 1489676"/>
              <a:gd name="connsiteX1" fmla="*/ 2451735 w 6012180"/>
              <a:gd name="connsiteY1" fmla="*/ 67593 h 1489676"/>
              <a:gd name="connsiteX2" fmla="*/ 5042464 w 6012180"/>
              <a:gd name="connsiteY2" fmla="*/ 200672 h 1489676"/>
              <a:gd name="connsiteX3" fmla="*/ 6012180 w 6012180"/>
              <a:gd name="connsiteY3" fmla="*/ 1489676 h 1489676"/>
              <a:gd name="connsiteX0" fmla="*/ 0 w 5712917"/>
              <a:gd name="connsiteY0" fmla="*/ 813650 h 813671"/>
              <a:gd name="connsiteX1" fmla="*/ 2451735 w 5712917"/>
              <a:gd name="connsiteY1" fmla="*/ 39267 h 813671"/>
              <a:gd name="connsiteX2" fmla="*/ 5042464 w 5712917"/>
              <a:gd name="connsiteY2" fmla="*/ 172346 h 813671"/>
              <a:gd name="connsiteX3" fmla="*/ 5712917 w 5712917"/>
              <a:gd name="connsiteY3" fmla="*/ 675904 h 813671"/>
              <a:gd name="connsiteX0" fmla="*/ 0 w 5712917"/>
              <a:gd name="connsiteY0" fmla="*/ 863703 h 863725"/>
              <a:gd name="connsiteX1" fmla="*/ 2451735 w 5712917"/>
              <a:gd name="connsiteY1" fmla="*/ 89320 h 863725"/>
              <a:gd name="connsiteX2" fmla="*/ 3645901 w 5712917"/>
              <a:gd name="connsiteY2" fmla="*/ 87584 h 863725"/>
              <a:gd name="connsiteX3" fmla="*/ 5712917 w 5712917"/>
              <a:gd name="connsiteY3" fmla="*/ 725957 h 863725"/>
              <a:gd name="connsiteX0" fmla="*/ 0 w 3645901"/>
              <a:gd name="connsiteY0" fmla="*/ 863703 h 863725"/>
              <a:gd name="connsiteX1" fmla="*/ 2451735 w 3645901"/>
              <a:gd name="connsiteY1" fmla="*/ 89320 h 863725"/>
              <a:gd name="connsiteX2" fmla="*/ 3645901 w 3645901"/>
              <a:gd name="connsiteY2" fmla="*/ 87584 h 863725"/>
              <a:gd name="connsiteX0" fmla="*/ 0 w 3974505"/>
              <a:gd name="connsiteY0" fmla="*/ 774405 h 774424"/>
              <a:gd name="connsiteX1" fmla="*/ 2451735 w 3974505"/>
              <a:gd name="connsiteY1" fmla="*/ 22 h 774424"/>
              <a:gd name="connsiteX2" fmla="*/ 3974505 w 3974505"/>
              <a:gd name="connsiteY2" fmla="*/ 748563 h 774424"/>
              <a:gd name="connsiteX0" fmla="*/ 0 w 3974505"/>
              <a:gd name="connsiteY0" fmla="*/ 52533 h 169219"/>
              <a:gd name="connsiteX1" fmla="*/ 1706510 w 3974505"/>
              <a:gd name="connsiteY1" fmla="*/ 169103 h 169219"/>
              <a:gd name="connsiteX2" fmla="*/ 3974505 w 3974505"/>
              <a:gd name="connsiteY2" fmla="*/ 26691 h 169219"/>
              <a:gd name="connsiteX0" fmla="*/ 0 w 3974505"/>
              <a:gd name="connsiteY0" fmla="*/ 52533 h 169219"/>
              <a:gd name="connsiteX1" fmla="*/ 1853208 w 3974505"/>
              <a:gd name="connsiteY1" fmla="*/ 169103 h 169219"/>
              <a:gd name="connsiteX2" fmla="*/ 3974505 w 3974505"/>
              <a:gd name="connsiteY2" fmla="*/ 26691 h 169219"/>
              <a:gd name="connsiteX0" fmla="*/ 0 w 3974505"/>
              <a:gd name="connsiteY0" fmla="*/ 125412 h 125528"/>
              <a:gd name="connsiteX1" fmla="*/ 1853208 w 3974505"/>
              <a:gd name="connsiteY1" fmla="*/ 1659 h 125528"/>
              <a:gd name="connsiteX2" fmla="*/ 3974505 w 3974505"/>
              <a:gd name="connsiteY2" fmla="*/ 99570 h 125528"/>
              <a:gd name="connsiteX0" fmla="*/ 0 w 3974505"/>
              <a:gd name="connsiteY0" fmla="*/ 123778 h 282631"/>
              <a:gd name="connsiteX1" fmla="*/ 1853208 w 3974505"/>
              <a:gd name="connsiteY1" fmla="*/ 25 h 282631"/>
              <a:gd name="connsiteX2" fmla="*/ 3974505 w 3974505"/>
              <a:gd name="connsiteY2" fmla="*/ 97936 h 282631"/>
              <a:gd name="connsiteX0" fmla="*/ 0 w 4050788"/>
              <a:gd name="connsiteY0" fmla="*/ 123754 h 302039"/>
              <a:gd name="connsiteX1" fmla="*/ 1853208 w 4050788"/>
              <a:gd name="connsiteY1" fmla="*/ 1 h 302039"/>
              <a:gd name="connsiteX2" fmla="*/ 4050788 w 4050788"/>
              <a:gd name="connsiteY2" fmla="*/ 121358 h 302039"/>
              <a:gd name="connsiteX0" fmla="*/ 0 w 3617746"/>
              <a:gd name="connsiteY0" fmla="*/ 161678 h 218356"/>
              <a:gd name="connsiteX1" fmla="*/ 1853208 w 3617746"/>
              <a:gd name="connsiteY1" fmla="*/ 37925 h 218356"/>
              <a:gd name="connsiteX2" fmla="*/ 3617746 w 3617746"/>
              <a:gd name="connsiteY2" fmla="*/ 0 h 218356"/>
              <a:gd name="connsiteX0" fmla="*/ 0 w 6294739"/>
              <a:gd name="connsiteY0" fmla="*/ 123754 h 264603"/>
              <a:gd name="connsiteX1" fmla="*/ 1853208 w 6294739"/>
              <a:gd name="connsiteY1" fmla="*/ 1 h 264603"/>
              <a:gd name="connsiteX2" fmla="*/ 6294739 w 6294739"/>
              <a:gd name="connsiteY2" fmla="*/ 74164 h 264603"/>
              <a:gd name="connsiteX0" fmla="*/ 0 w 6294739"/>
              <a:gd name="connsiteY0" fmla="*/ 137020 h 137133"/>
              <a:gd name="connsiteX1" fmla="*/ 1853208 w 6294739"/>
              <a:gd name="connsiteY1" fmla="*/ 13267 h 137133"/>
              <a:gd name="connsiteX2" fmla="*/ 6294739 w 6294739"/>
              <a:gd name="connsiteY2" fmla="*/ 87430 h 137133"/>
              <a:gd name="connsiteX0" fmla="*/ 0 w 6294739"/>
              <a:gd name="connsiteY0" fmla="*/ 79654 h 250869"/>
              <a:gd name="connsiteX1" fmla="*/ 4372730 w 6294739"/>
              <a:gd name="connsiteY1" fmla="*/ 250869 h 250869"/>
              <a:gd name="connsiteX2" fmla="*/ 6294739 w 6294739"/>
              <a:gd name="connsiteY2" fmla="*/ 30064 h 250869"/>
              <a:gd name="connsiteX0" fmla="*/ 0 w 6294739"/>
              <a:gd name="connsiteY0" fmla="*/ 79654 h 250869"/>
              <a:gd name="connsiteX1" fmla="*/ 4372730 w 6294739"/>
              <a:gd name="connsiteY1" fmla="*/ 250869 h 250869"/>
              <a:gd name="connsiteX2" fmla="*/ 6294739 w 6294739"/>
              <a:gd name="connsiteY2" fmla="*/ 30064 h 250869"/>
              <a:gd name="connsiteX0" fmla="*/ 0 w 6294739"/>
              <a:gd name="connsiteY0" fmla="*/ 79654 h 250869"/>
              <a:gd name="connsiteX1" fmla="*/ 4372730 w 6294739"/>
              <a:gd name="connsiteY1" fmla="*/ 250869 h 250869"/>
              <a:gd name="connsiteX2" fmla="*/ 6294739 w 6294739"/>
              <a:gd name="connsiteY2" fmla="*/ 30064 h 250869"/>
              <a:gd name="connsiteX0" fmla="*/ 0 w 6294739"/>
              <a:gd name="connsiteY0" fmla="*/ 70391 h 287548"/>
              <a:gd name="connsiteX1" fmla="*/ 4372730 w 6294739"/>
              <a:gd name="connsiteY1" fmla="*/ 241606 h 287548"/>
              <a:gd name="connsiteX2" fmla="*/ 6294739 w 6294739"/>
              <a:gd name="connsiteY2" fmla="*/ 20801 h 287548"/>
              <a:gd name="connsiteX0" fmla="*/ 0 w 6294739"/>
              <a:gd name="connsiteY0" fmla="*/ 73776 h 209285"/>
              <a:gd name="connsiteX1" fmla="*/ 4451466 w 6294739"/>
              <a:gd name="connsiteY1" fmla="*/ 156501 h 209285"/>
              <a:gd name="connsiteX2" fmla="*/ 6294739 w 6294739"/>
              <a:gd name="connsiteY2" fmla="*/ 24186 h 209285"/>
              <a:gd name="connsiteX0" fmla="*/ 0 w 6294739"/>
              <a:gd name="connsiteY0" fmla="*/ 73776 h 209285"/>
              <a:gd name="connsiteX1" fmla="*/ 4451466 w 6294739"/>
              <a:gd name="connsiteY1" fmla="*/ 156501 h 209285"/>
              <a:gd name="connsiteX2" fmla="*/ 6294739 w 6294739"/>
              <a:gd name="connsiteY2" fmla="*/ 24186 h 209285"/>
              <a:gd name="connsiteX0" fmla="*/ 0 w 6294739"/>
              <a:gd name="connsiteY0" fmla="*/ 73776 h 209285"/>
              <a:gd name="connsiteX1" fmla="*/ 4451466 w 6294739"/>
              <a:gd name="connsiteY1" fmla="*/ 156501 h 209285"/>
              <a:gd name="connsiteX2" fmla="*/ 6294739 w 6294739"/>
              <a:gd name="connsiteY2" fmla="*/ 24186 h 209285"/>
              <a:gd name="connsiteX0" fmla="*/ 0 w 6294739"/>
              <a:gd name="connsiteY0" fmla="*/ 77590 h 186256"/>
              <a:gd name="connsiteX1" fmla="*/ 4451466 w 6294739"/>
              <a:gd name="connsiteY1" fmla="*/ 160315 h 186256"/>
              <a:gd name="connsiteX2" fmla="*/ 6294739 w 6294739"/>
              <a:gd name="connsiteY2" fmla="*/ 28000 h 186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94739" h="186256">
                <a:moveTo>
                  <a:pt x="0" y="77590"/>
                </a:moveTo>
                <a:cubicBezTo>
                  <a:pt x="1008618" y="312111"/>
                  <a:pt x="2802302" y="-157876"/>
                  <a:pt x="4451466" y="160315"/>
                </a:cubicBezTo>
                <a:cubicBezTo>
                  <a:pt x="5114371" y="288216"/>
                  <a:pt x="5178599" y="-105410"/>
                  <a:pt x="6294739" y="28000"/>
                </a:cubicBezTo>
              </a:path>
            </a:pathLst>
          </a:custGeom>
          <a:noFill/>
          <a:ln w="50800">
            <a:solidFill>
              <a:srgbClr val="D83C3C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1B504DA-F869-8AAE-0AC6-12C7A4BA3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759" y="1402677"/>
            <a:ext cx="3507340" cy="1097350"/>
          </a:xfrm>
          <a:prstGeom prst="rect">
            <a:avLst/>
          </a:prstGeom>
        </p:spPr>
      </p:pic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7B6A3414-9969-7C0F-8FDD-1A3DCFFFFD57}"/>
              </a:ext>
            </a:extLst>
          </p:cNvPr>
          <p:cNvSpPr/>
          <p:nvPr/>
        </p:nvSpPr>
        <p:spPr>
          <a:xfrm>
            <a:off x="455071" y="1761708"/>
            <a:ext cx="1722632" cy="666611"/>
          </a:xfrm>
          <a:custGeom>
            <a:avLst/>
            <a:gdLst>
              <a:gd name="connsiteX0" fmla="*/ 0 w 6468948"/>
              <a:gd name="connsiteY0" fmla="*/ 745660 h 1393360"/>
              <a:gd name="connsiteX1" fmla="*/ 2156460 w 6468948"/>
              <a:gd name="connsiteY1" fmla="*/ 128440 h 1393360"/>
              <a:gd name="connsiteX2" fmla="*/ 6179820 w 6468948"/>
              <a:gd name="connsiteY2" fmla="*/ 75100 h 1393360"/>
              <a:gd name="connsiteX3" fmla="*/ 6134100 w 6468948"/>
              <a:gd name="connsiteY3" fmla="*/ 981880 h 1393360"/>
              <a:gd name="connsiteX4" fmla="*/ 6012180 w 6468948"/>
              <a:gd name="connsiteY4" fmla="*/ 1393360 h 1393360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421760"/>
              <a:gd name="connsiteY0" fmla="*/ 736963 h 1384663"/>
              <a:gd name="connsiteX1" fmla="*/ 2156460 w 6421760"/>
              <a:gd name="connsiteY1" fmla="*/ 119743 h 1384663"/>
              <a:gd name="connsiteX2" fmla="*/ 6179820 w 6421760"/>
              <a:gd name="connsiteY2" fmla="*/ 66403 h 1384663"/>
              <a:gd name="connsiteX3" fmla="*/ 5972175 w 6421760"/>
              <a:gd name="connsiteY3" fmla="*/ 854120 h 1384663"/>
              <a:gd name="connsiteX4" fmla="*/ 6012180 w 6421760"/>
              <a:gd name="connsiteY4" fmla="*/ 1384663 h 1384663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103299"/>
              <a:gd name="connsiteY0" fmla="*/ 773124 h 1420824"/>
              <a:gd name="connsiteX1" fmla="*/ 2156460 w 6103299"/>
              <a:gd name="connsiteY1" fmla="*/ 155904 h 1420824"/>
              <a:gd name="connsiteX2" fmla="*/ 5732145 w 6103299"/>
              <a:gd name="connsiteY2" fmla="*/ 54939 h 1420824"/>
              <a:gd name="connsiteX3" fmla="*/ 5972175 w 6103299"/>
              <a:gd name="connsiteY3" fmla="*/ 890281 h 1420824"/>
              <a:gd name="connsiteX4" fmla="*/ 6012180 w 6103299"/>
              <a:gd name="connsiteY4" fmla="*/ 1420824 h 1420824"/>
              <a:gd name="connsiteX0" fmla="*/ 0 w 6083574"/>
              <a:gd name="connsiteY0" fmla="*/ 849316 h 1497016"/>
              <a:gd name="connsiteX1" fmla="*/ 2451735 w 6083574"/>
              <a:gd name="connsiteY1" fmla="*/ 74933 h 1497016"/>
              <a:gd name="connsiteX2" fmla="*/ 5732145 w 6083574"/>
              <a:gd name="connsiteY2" fmla="*/ 131131 h 1497016"/>
              <a:gd name="connsiteX3" fmla="*/ 5972175 w 6083574"/>
              <a:gd name="connsiteY3" fmla="*/ 966473 h 1497016"/>
              <a:gd name="connsiteX4" fmla="*/ 6012180 w 6083574"/>
              <a:gd name="connsiteY4" fmla="*/ 1497016 h 1497016"/>
              <a:gd name="connsiteX0" fmla="*/ 0 w 6012900"/>
              <a:gd name="connsiteY0" fmla="*/ 835417 h 1483117"/>
              <a:gd name="connsiteX1" fmla="*/ 2451735 w 6012900"/>
              <a:gd name="connsiteY1" fmla="*/ 61034 h 1483117"/>
              <a:gd name="connsiteX2" fmla="*/ 5274945 w 6012900"/>
              <a:gd name="connsiteY2" fmla="*/ 150570 h 1483117"/>
              <a:gd name="connsiteX3" fmla="*/ 5972175 w 6012900"/>
              <a:gd name="connsiteY3" fmla="*/ 952574 h 1483117"/>
              <a:gd name="connsiteX4" fmla="*/ 6012180 w 6012900"/>
              <a:gd name="connsiteY4" fmla="*/ 1483117 h 1483117"/>
              <a:gd name="connsiteX0" fmla="*/ 0 w 6012900"/>
              <a:gd name="connsiteY0" fmla="*/ 820860 h 1468560"/>
              <a:gd name="connsiteX1" fmla="*/ 2451735 w 6012900"/>
              <a:gd name="connsiteY1" fmla="*/ 46477 h 1468560"/>
              <a:gd name="connsiteX2" fmla="*/ 5042464 w 6012900"/>
              <a:gd name="connsiteY2" fmla="*/ 179556 h 1468560"/>
              <a:gd name="connsiteX3" fmla="*/ 5972175 w 6012900"/>
              <a:gd name="connsiteY3" fmla="*/ 938017 h 1468560"/>
              <a:gd name="connsiteX4" fmla="*/ 6012180 w 6012900"/>
              <a:gd name="connsiteY4" fmla="*/ 1468560 h 1468560"/>
              <a:gd name="connsiteX0" fmla="*/ 0 w 6013021"/>
              <a:gd name="connsiteY0" fmla="*/ 804040 h 1451740"/>
              <a:gd name="connsiteX1" fmla="*/ 2451735 w 6013021"/>
              <a:gd name="connsiteY1" fmla="*/ 29657 h 1451740"/>
              <a:gd name="connsiteX2" fmla="*/ 5042464 w 6013021"/>
              <a:gd name="connsiteY2" fmla="*/ 162736 h 1451740"/>
              <a:gd name="connsiteX3" fmla="*/ 5983911 w 6013021"/>
              <a:gd name="connsiteY3" fmla="*/ 182643 h 1451740"/>
              <a:gd name="connsiteX4" fmla="*/ 6012180 w 6013021"/>
              <a:gd name="connsiteY4" fmla="*/ 1451740 h 1451740"/>
              <a:gd name="connsiteX0" fmla="*/ 0 w 6012180"/>
              <a:gd name="connsiteY0" fmla="*/ 841976 h 1489676"/>
              <a:gd name="connsiteX1" fmla="*/ 2451735 w 6012180"/>
              <a:gd name="connsiteY1" fmla="*/ 67593 h 1489676"/>
              <a:gd name="connsiteX2" fmla="*/ 5042464 w 6012180"/>
              <a:gd name="connsiteY2" fmla="*/ 200672 h 1489676"/>
              <a:gd name="connsiteX3" fmla="*/ 6012180 w 6012180"/>
              <a:gd name="connsiteY3" fmla="*/ 1489676 h 1489676"/>
              <a:gd name="connsiteX0" fmla="*/ 0 w 5712917"/>
              <a:gd name="connsiteY0" fmla="*/ 813650 h 813671"/>
              <a:gd name="connsiteX1" fmla="*/ 2451735 w 5712917"/>
              <a:gd name="connsiteY1" fmla="*/ 39267 h 813671"/>
              <a:gd name="connsiteX2" fmla="*/ 5042464 w 5712917"/>
              <a:gd name="connsiteY2" fmla="*/ 172346 h 813671"/>
              <a:gd name="connsiteX3" fmla="*/ 5712917 w 5712917"/>
              <a:gd name="connsiteY3" fmla="*/ 675904 h 813671"/>
              <a:gd name="connsiteX0" fmla="*/ 0 w 5712917"/>
              <a:gd name="connsiteY0" fmla="*/ 863703 h 863725"/>
              <a:gd name="connsiteX1" fmla="*/ 2451735 w 5712917"/>
              <a:gd name="connsiteY1" fmla="*/ 89320 h 863725"/>
              <a:gd name="connsiteX2" fmla="*/ 3645901 w 5712917"/>
              <a:gd name="connsiteY2" fmla="*/ 87584 h 863725"/>
              <a:gd name="connsiteX3" fmla="*/ 5712917 w 5712917"/>
              <a:gd name="connsiteY3" fmla="*/ 725957 h 863725"/>
              <a:gd name="connsiteX0" fmla="*/ 0 w 3645901"/>
              <a:gd name="connsiteY0" fmla="*/ 863703 h 863725"/>
              <a:gd name="connsiteX1" fmla="*/ 2451735 w 3645901"/>
              <a:gd name="connsiteY1" fmla="*/ 89320 h 863725"/>
              <a:gd name="connsiteX2" fmla="*/ 3645901 w 3645901"/>
              <a:gd name="connsiteY2" fmla="*/ 87584 h 863725"/>
              <a:gd name="connsiteX0" fmla="*/ 0 w 3974505"/>
              <a:gd name="connsiteY0" fmla="*/ 774405 h 774424"/>
              <a:gd name="connsiteX1" fmla="*/ 2451735 w 3974505"/>
              <a:gd name="connsiteY1" fmla="*/ 22 h 774424"/>
              <a:gd name="connsiteX2" fmla="*/ 3974505 w 3974505"/>
              <a:gd name="connsiteY2" fmla="*/ 748563 h 774424"/>
              <a:gd name="connsiteX0" fmla="*/ 0 w 3974505"/>
              <a:gd name="connsiteY0" fmla="*/ 52533 h 169219"/>
              <a:gd name="connsiteX1" fmla="*/ 1706510 w 3974505"/>
              <a:gd name="connsiteY1" fmla="*/ 169103 h 169219"/>
              <a:gd name="connsiteX2" fmla="*/ 3974505 w 3974505"/>
              <a:gd name="connsiteY2" fmla="*/ 26691 h 169219"/>
              <a:gd name="connsiteX0" fmla="*/ 0 w 3974505"/>
              <a:gd name="connsiteY0" fmla="*/ 52533 h 169219"/>
              <a:gd name="connsiteX1" fmla="*/ 1853208 w 3974505"/>
              <a:gd name="connsiteY1" fmla="*/ 169103 h 169219"/>
              <a:gd name="connsiteX2" fmla="*/ 3974505 w 3974505"/>
              <a:gd name="connsiteY2" fmla="*/ 26691 h 169219"/>
              <a:gd name="connsiteX0" fmla="*/ 0 w 3974505"/>
              <a:gd name="connsiteY0" fmla="*/ 125412 h 125528"/>
              <a:gd name="connsiteX1" fmla="*/ 1853208 w 3974505"/>
              <a:gd name="connsiteY1" fmla="*/ 1659 h 125528"/>
              <a:gd name="connsiteX2" fmla="*/ 3974505 w 3974505"/>
              <a:gd name="connsiteY2" fmla="*/ 99570 h 125528"/>
              <a:gd name="connsiteX0" fmla="*/ 0 w 3974505"/>
              <a:gd name="connsiteY0" fmla="*/ 123778 h 282631"/>
              <a:gd name="connsiteX1" fmla="*/ 1853208 w 3974505"/>
              <a:gd name="connsiteY1" fmla="*/ 25 h 282631"/>
              <a:gd name="connsiteX2" fmla="*/ 3974505 w 3974505"/>
              <a:gd name="connsiteY2" fmla="*/ 97936 h 282631"/>
              <a:gd name="connsiteX0" fmla="*/ 0 w 4050788"/>
              <a:gd name="connsiteY0" fmla="*/ 123754 h 302039"/>
              <a:gd name="connsiteX1" fmla="*/ 1853208 w 4050788"/>
              <a:gd name="connsiteY1" fmla="*/ 1 h 302039"/>
              <a:gd name="connsiteX2" fmla="*/ 4050788 w 4050788"/>
              <a:gd name="connsiteY2" fmla="*/ 121358 h 302039"/>
              <a:gd name="connsiteX0" fmla="*/ 0 w 3617746"/>
              <a:gd name="connsiteY0" fmla="*/ 161678 h 218356"/>
              <a:gd name="connsiteX1" fmla="*/ 1853208 w 3617746"/>
              <a:gd name="connsiteY1" fmla="*/ 37925 h 218356"/>
              <a:gd name="connsiteX2" fmla="*/ 3617746 w 3617746"/>
              <a:gd name="connsiteY2" fmla="*/ 0 h 218356"/>
              <a:gd name="connsiteX0" fmla="*/ 0 w 3617746"/>
              <a:gd name="connsiteY0" fmla="*/ 215182 h 271860"/>
              <a:gd name="connsiteX1" fmla="*/ 1853208 w 3617746"/>
              <a:gd name="connsiteY1" fmla="*/ 91429 h 271860"/>
              <a:gd name="connsiteX2" fmla="*/ 3617746 w 3617746"/>
              <a:gd name="connsiteY2" fmla="*/ 53504 h 271860"/>
              <a:gd name="connsiteX0" fmla="*/ 0 w 4546820"/>
              <a:gd name="connsiteY0" fmla="*/ 456646 h 456646"/>
              <a:gd name="connsiteX1" fmla="*/ 2782282 w 4546820"/>
              <a:gd name="connsiteY1" fmla="*/ 37925 h 456646"/>
              <a:gd name="connsiteX2" fmla="*/ 4546820 w 4546820"/>
              <a:gd name="connsiteY2" fmla="*/ 0 h 456646"/>
              <a:gd name="connsiteX0" fmla="*/ 57220 w 4604040"/>
              <a:gd name="connsiteY0" fmla="*/ 456646 h 456830"/>
              <a:gd name="connsiteX1" fmla="*/ 2839502 w 4604040"/>
              <a:gd name="connsiteY1" fmla="*/ 37925 h 456830"/>
              <a:gd name="connsiteX2" fmla="*/ 4604040 w 4604040"/>
              <a:gd name="connsiteY2" fmla="*/ 0 h 456830"/>
              <a:gd name="connsiteX0" fmla="*/ 141884 w 4688704"/>
              <a:gd name="connsiteY0" fmla="*/ 572104 h 572240"/>
              <a:gd name="connsiteX1" fmla="*/ 1144754 w 4688704"/>
              <a:gd name="connsiteY1" fmla="*/ 0 h 572240"/>
              <a:gd name="connsiteX2" fmla="*/ 4688704 w 4688704"/>
              <a:gd name="connsiteY2" fmla="*/ 115458 h 572240"/>
              <a:gd name="connsiteX0" fmla="*/ 185184 w 4432811"/>
              <a:gd name="connsiteY0" fmla="*/ 666494 h 666611"/>
              <a:gd name="connsiteX1" fmla="*/ 888861 w 4432811"/>
              <a:gd name="connsiteY1" fmla="*/ 0 h 666611"/>
              <a:gd name="connsiteX2" fmla="*/ 4432811 w 4432811"/>
              <a:gd name="connsiteY2" fmla="*/ 115458 h 666611"/>
              <a:gd name="connsiteX0" fmla="*/ 185184 w 2299091"/>
              <a:gd name="connsiteY0" fmla="*/ 666494 h 666611"/>
              <a:gd name="connsiteX1" fmla="*/ 888861 w 2299091"/>
              <a:gd name="connsiteY1" fmla="*/ 0 h 666611"/>
              <a:gd name="connsiteX2" fmla="*/ 2299091 w 2299091"/>
              <a:gd name="connsiteY2" fmla="*/ 139056 h 666611"/>
              <a:gd name="connsiteX0" fmla="*/ 185184 w 2299091"/>
              <a:gd name="connsiteY0" fmla="*/ 666494 h 666611"/>
              <a:gd name="connsiteX1" fmla="*/ 888861 w 2299091"/>
              <a:gd name="connsiteY1" fmla="*/ 0 h 666611"/>
              <a:gd name="connsiteX2" fmla="*/ 2299091 w 2299091"/>
              <a:gd name="connsiteY2" fmla="*/ 139056 h 666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9091" h="666611">
                <a:moveTo>
                  <a:pt x="185184" y="666494"/>
                </a:moveTo>
                <a:cubicBezTo>
                  <a:pt x="-286419" y="676838"/>
                  <a:pt x="213730" y="399"/>
                  <a:pt x="888861" y="0"/>
                </a:cubicBezTo>
                <a:cubicBezTo>
                  <a:pt x="1563992" y="-399"/>
                  <a:pt x="1529385" y="247519"/>
                  <a:pt x="2299091" y="139056"/>
                </a:cubicBezTo>
              </a:path>
            </a:pathLst>
          </a:custGeom>
          <a:noFill/>
          <a:ln w="50800">
            <a:solidFill>
              <a:srgbClr val="D83C3C"/>
            </a:solidFill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B2258BD-7326-8B77-ED08-83D96E011CA5}"/>
              </a:ext>
            </a:extLst>
          </p:cNvPr>
          <p:cNvSpPr/>
          <p:nvPr/>
        </p:nvSpPr>
        <p:spPr>
          <a:xfrm>
            <a:off x="548383" y="4057940"/>
            <a:ext cx="1363008" cy="44326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EEB8339-C0FB-A8E8-9384-9E642642948B}"/>
              </a:ext>
            </a:extLst>
          </p:cNvPr>
          <p:cNvSpPr/>
          <p:nvPr/>
        </p:nvSpPr>
        <p:spPr>
          <a:xfrm>
            <a:off x="11202880" y="2813992"/>
            <a:ext cx="845764" cy="8572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806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0"/>
    </mc:Choice>
    <mc:Fallback>
      <p:transition spd="slow" advTm="43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D90DF-31E7-21E5-0BEB-02FC42C3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F25EB8B-59F5-AFC8-2B7E-5652B305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545" y="1675605"/>
            <a:ext cx="6407258" cy="437235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03C7324-16FB-E37C-05E4-F352DDF01496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en-US" altLang="zh-CN" sz="3600">
                <a:solidFill>
                  <a:srgbClr val="1B1C1D"/>
                </a:solidFill>
                <a:latin typeface="+mj-ea"/>
                <a:ea typeface="+mj-ea"/>
              </a:rPr>
              <a:t>Turbo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码译码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0FC3DC-28A0-6896-231F-55348587AC17}"/>
              </a:ext>
            </a:extLst>
          </p:cNvPr>
          <p:cNvSpPr txBox="1"/>
          <p:nvPr/>
        </p:nvSpPr>
        <p:spPr>
          <a:xfrm>
            <a:off x="845678" y="2531158"/>
            <a:ext cx="4080283" cy="23544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双 </a:t>
            </a:r>
            <a:r>
              <a:rPr lang="en-US" altLang="zh-CN" sz="2400" b="1">
                <a:latin typeface="+mn-ea"/>
              </a:rPr>
              <a:t>BCJR </a:t>
            </a:r>
            <a:r>
              <a:rPr lang="zh-CN" altLang="en-US" sz="2400" b="1">
                <a:latin typeface="+mn-ea"/>
              </a:rPr>
              <a:t>译码器</a:t>
            </a:r>
            <a:endParaRPr lang="en-US" altLang="zh-CN" sz="2400">
              <a:latin typeface="+mn-ea"/>
            </a:endParaRPr>
          </a:p>
          <a:p>
            <a:pPr marL="342900" indent="-342900" algn="just" rtl="0" fontAlgn="base">
              <a:spcBef>
                <a:spcPts val="600"/>
              </a:spcBef>
              <a:buAutoNum type="arabicPeriod"/>
            </a:pPr>
            <a:r>
              <a:rPr lang="zh-CN" altLang="en-US">
                <a:latin typeface="+mn-ea"/>
              </a:rPr>
              <a:t>接收并分离符号位与校验位信道观察</a:t>
            </a:r>
            <a:endParaRPr lang="en-US" altLang="zh-CN">
              <a:latin typeface="+mn-ea"/>
            </a:endParaRPr>
          </a:p>
          <a:p>
            <a:pPr marL="342900" indent="-342900" algn="just" rtl="0" fontAlgn="base">
              <a:spcBef>
                <a:spcPts val="600"/>
              </a:spcBef>
              <a:buAutoNum type="arabicPeriod"/>
            </a:pPr>
            <a:r>
              <a:rPr lang="zh-CN" altLang="en-US">
                <a:latin typeface="+mn-ea"/>
              </a:rPr>
              <a:t>进入 </a:t>
            </a:r>
            <a:r>
              <a:rPr lang="en-US" altLang="zh-CN">
                <a:latin typeface="+mn-ea"/>
              </a:rPr>
              <a:t>BCJR </a:t>
            </a:r>
            <a:r>
              <a:rPr lang="zh-CN" altLang="en-US">
                <a:latin typeface="+mn-ea"/>
              </a:rPr>
              <a:t>译码器进行译码，获取信息位后验概率，转换为外信息输入到另一 </a:t>
            </a:r>
            <a:r>
              <a:rPr lang="en-US" altLang="zh-CN">
                <a:latin typeface="+mn-ea"/>
              </a:rPr>
              <a:t>BCJR </a:t>
            </a:r>
            <a:r>
              <a:rPr lang="zh-CN" altLang="en-US">
                <a:latin typeface="+mn-ea"/>
              </a:rPr>
              <a:t>译码器进行迭代译码</a:t>
            </a:r>
            <a:endParaRPr lang="en-US" altLang="zh-CN">
              <a:latin typeface="+mn-ea"/>
            </a:endParaRPr>
          </a:p>
          <a:p>
            <a:pPr marL="342900" indent="-342900" algn="just" rtl="0" fontAlgn="base">
              <a:spcBef>
                <a:spcPts val="600"/>
              </a:spcBef>
              <a:buAutoNum type="arabicPeriod"/>
            </a:pPr>
            <a:r>
              <a:rPr lang="zh-CN" altLang="en-US">
                <a:latin typeface="+mn-ea"/>
              </a:rPr>
              <a:t>迭代一定轮数后输出对信息位的最大后验估计</a:t>
            </a:r>
            <a:endParaRPr lang="en-US" altLang="zh-CN">
              <a:latin typeface="+mn-ea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EE7A025-02AB-8F24-5053-709AACF0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81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"/>
    </mc:Choice>
    <mc:Fallback xmlns="">
      <p:transition spd="slow" advTm="43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31A4-6F21-1791-6AC2-1E79DF26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FC5D60D-7589-93DA-5D8F-6F2972AC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DDAA70C5-A0ED-86F0-58DE-FE8489502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1010" y="2119160"/>
            <a:ext cx="7736021" cy="348523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913DEF5-34B5-1B71-433B-57B8D2B54AAC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卷积码译码器性能比较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C386F5-9E2F-64DE-9712-AEDE4B5636ED}"/>
              </a:ext>
            </a:extLst>
          </p:cNvPr>
          <p:cNvSpPr txBox="1"/>
          <p:nvPr/>
        </p:nvSpPr>
        <p:spPr>
          <a:xfrm>
            <a:off x="484761" y="1607317"/>
            <a:ext cx="3479606" cy="45089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实现细节</a:t>
            </a:r>
            <a:endParaRPr lang="en-US" altLang="zh-CN" sz="2400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en-US" altLang="zh-CN">
                <a:latin typeface="+mn-ea"/>
              </a:rPr>
              <a:t>Turbo </a:t>
            </a:r>
            <a:r>
              <a:rPr lang="zh-CN" altLang="en-US">
                <a:latin typeface="+mn-ea"/>
              </a:rPr>
              <a:t>码实现基本参照 </a:t>
            </a:r>
            <a:r>
              <a:rPr lang="en-US" altLang="zh-CN">
                <a:latin typeface="+mn-ea"/>
              </a:rPr>
              <a:t>CCSDS </a:t>
            </a:r>
            <a:r>
              <a:rPr lang="zh-CN" altLang="en-US">
                <a:latin typeface="+mn-ea"/>
              </a:rPr>
              <a:t>标准进行实现。编码误码性能以误帧率</a:t>
            </a:r>
            <a:r>
              <a:rPr lang="en-US" altLang="zh-CN">
                <a:latin typeface="+mn-ea"/>
              </a:rPr>
              <a:t>-</a:t>
            </a:r>
            <a:r>
              <a:rPr lang="zh-CN" altLang="en-US">
                <a:latin typeface="+mn-ea"/>
              </a:rPr>
              <a:t>信噪比为指标。性能基准来自 </a:t>
            </a:r>
            <a:r>
              <a:rPr lang="en-US" altLang="zh-CN" sz="1400">
                <a:latin typeface="+mn-ea"/>
              </a:rPr>
              <a:t>NASA </a:t>
            </a:r>
            <a:r>
              <a:rPr lang="en-US" altLang="zh-CN" sz="1400"/>
              <a:t>DSN Telecommunications Link Design Handbook </a:t>
            </a:r>
            <a:r>
              <a:rPr lang="pt-BR" altLang="zh-CN" sz="1400"/>
              <a:t>810-005, Rev. E 207, Rev. A (639-644).</a:t>
            </a:r>
            <a:endParaRPr lang="en-US" altLang="zh-CN" sz="1400" baseline="-25000">
              <a:latin typeface="+mn-ea"/>
            </a:endParaRPr>
          </a:p>
          <a:p>
            <a:pPr rtl="0" fontAlgn="base">
              <a:spcBef>
                <a:spcPts val="600"/>
              </a:spcBef>
            </a:pP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性能比较</a:t>
            </a:r>
            <a:endParaRPr lang="en-US" altLang="zh-CN" sz="2400" b="1">
              <a:latin typeface="+mn-ea"/>
            </a:endParaRPr>
          </a:p>
          <a:p>
            <a:pPr marL="342900" indent="-342900" rtl="0" fontAlgn="base">
              <a:spcBef>
                <a:spcPts val="600"/>
              </a:spcBef>
              <a:buAutoNum type="arabicPeriod"/>
            </a:pPr>
            <a:r>
              <a:rPr lang="en-US" altLang="zh-CN"/>
              <a:t>1/3 </a:t>
            </a:r>
            <a:r>
              <a:rPr lang="zh-CN" altLang="en-US"/>
              <a:t>码率下误帧率在错误平层前与性能基准有高一致性，错误平层快于性能基准出现。</a:t>
            </a:r>
            <a:endParaRPr lang="en-US" altLang="zh-CN"/>
          </a:p>
          <a:p>
            <a:pPr marL="342900" indent="-342900" rtl="0" fontAlgn="base">
              <a:spcBef>
                <a:spcPts val="600"/>
              </a:spcBef>
              <a:buAutoNum type="arabicPeriod"/>
            </a:pPr>
            <a:r>
              <a:rPr lang="en-US" altLang="zh-CN"/>
              <a:t>1/2 </a:t>
            </a:r>
            <a:r>
              <a:rPr lang="zh-CN" altLang="en-US"/>
              <a:t>码率下误帧率性能与基准存在一定偏差。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688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"/>
    </mc:Choice>
    <mc:Fallback xmlns="">
      <p:transition spd="slow" advTm="43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D16A-4AB7-DADC-8F5D-94D01BAA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810CA5C-87E1-C189-98CE-D8310DED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5FC5CD18-D9AD-19C3-50BB-759CAD47F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1495" y="1749706"/>
            <a:ext cx="5582633" cy="40241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C1177E6-85A9-28F1-D6F6-FA358B71F4A8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几种编码性能比较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B1E8F8-8059-44A2-C727-5E706E3ECD25}"/>
              </a:ext>
            </a:extLst>
          </p:cNvPr>
          <p:cNvSpPr txBox="1"/>
          <p:nvPr/>
        </p:nvSpPr>
        <p:spPr>
          <a:xfrm>
            <a:off x="915413" y="2055668"/>
            <a:ext cx="4388105" cy="32470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实现细节</a:t>
            </a:r>
            <a:endParaRPr lang="en-US" altLang="zh-CN" sz="2400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>
                <a:latin typeface="+mn-ea"/>
              </a:rPr>
              <a:t>对比卷积码与 </a:t>
            </a:r>
            <a:r>
              <a:rPr lang="en-US" altLang="zh-CN">
                <a:latin typeface="+mn-ea"/>
              </a:rPr>
              <a:t>Turbo </a:t>
            </a:r>
            <a:r>
              <a:rPr lang="zh-CN" altLang="en-US">
                <a:latin typeface="+mn-ea"/>
              </a:rPr>
              <a:t>码下 </a:t>
            </a:r>
            <a:r>
              <a:rPr lang="en-US" altLang="zh-CN">
                <a:latin typeface="+mn-ea"/>
              </a:rPr>
              <a:t>1/2</a:t>
            </a:r>
            <a:r>
              <a:rPr lang="zh-CN" altLang="en-US">
                <a:latin typeface="+mn-ea"/>
              </a:rPr>
              <a:t> 码率的编码的误码性能，以误码率</a:t>
            </a:r>
            <a:r>
              <a:rPr lang="en-US" altLang="zh-CN">
                <a:latin typeface="+mn-ea"/>
              </a:rPr>
              <a:t>-</a:t>
            </a:r>
            <a:r>
              <a:rPr lang="zh-CN" altLang="en-US">
                <a:latin typeface="+mn-ea"/>
              </a:rPr>
              <a:t>信噪比为指标。</a:t>
            </a:r>
            <a:endParaRPr lang="en-US" altLang="zh-CN">
              <a:latin typeface="+mn-ea"/>
            </a:endParaRPr>
          </a:p>
          <a:p>
            <a:pPr rtl="0" fontAlgn="base">
              <a:spcBef>
                <a:spcPts val="600"/>
              </a:spcBef>
            </a:pPr>
            <a:endParaRPr lang="en-US" altLang="zh-CN" sz="2400" b="1">
              <a:latin typeface="+mn-ea"/>
            </a:endParaRPr>
          </a:p>
          <a:p>
            <a:pPr rtl="0" fontAlgn="base">
              <a:spcBef>
                <a:spcPts val="600"/>
              </a:spcBef>
            </a:pPr>
            <a:r>
              <a:rPr lang="zh-CN" altLang="en-US" sz="2400" b="1">
                <a:latin typeface="+mn-ea"/>
              </a:rPr>
              <a:t>性能比较</a:t>
            </a:r>
            <a:endParaRPr lang="en-US" altLang="zh-CN" sz="2400" b="1">
              <a:latin typeface="+mn-ea"/>
            </a:endParaRPr>
          </a:p>
          <a:p>
            <a:pPr marL="342900" indent="-342900" rtl="0" fontAlgn="base">
              <a:spcBef>
                <a:spcPts val="600"/>
              </a:spcBef>
              <a:buAutoNum type="arabicPeriod"/>
            </a:pPr>
            <a:r>
              <a:rPr lang="en-US" altLang="zh-CN"/>
              <a:t>Turbo </a:t>
            </a:r>
            <a:r>
              <a:rPr lang="zh-CN" altLang="en-US"/>
              <a:t>码在瀑布区误码率下降很快，相比传统编码更接近香农限。</a:t>
            </a:r>
            <a:endParaRPr lang="en-US" altLang="zh-CN"/>
          </a:p>
          <a:p>
            <a:pPr marL="342900" indent="-342900" rtl="0" fontAlgn="base">
              <a:spcBef>
                <a:spcPts val="600"/>
              </a:spcBef>
              <a:buAutoNum type="arabicPeriod"/>
            </a:pPr>
            <a:r>
              <a:rPr lang="zh-CN" altLang="en-US"/>
              <a:t>在极低信噪比下，</a:t>
            </a:r>
            <a:r>
              <a:rPr lang="en-US" altLang="zh-CN"/>
              <a:t>Turbo </a:t>
            </a:r>
            <a:r>
              <a:rPr lang="zh-CN" altLang="en-US"/>
              <a:t>码的误码性能介于软维特比与硬维特比。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956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0"/>
    </mc:Choice>
    <mc:Fallback>
      <p:transition spd="slow" advTm="43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34E4E-F3F3-9072-BF6E-DB349C20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7385E01-FB00-CE53-97CE-7656B0AF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C8821-0FC2-4035-B8FA-CBB4408EE25E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F32208-D388-3259-85FF-E96E9E073830}"/>
              </a:ext>
            </a:extLst>
          </p:cNvPr>
          <p:cNvSpPr/>
          <p:nvPr/>
        </p:nvSpPr>
        <p:spPr>
          <a:xfrm>
            <a:off x="0" y="394939"/>
            <a:ext cx="1219200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>
                <a:solidFill>
                  <a:schemeClr val="tx1"/>
                </a:solidFill>
                <a:latin typeface="+mj-ea"/>
                <a:ea typeface="+mj-ea"/>
              </a:rPr>
              <a:t>   </a:t>
            </a:r>
            <a:r>
              <a:rPr lang="zh-CN" altLang="en-US" sz="3600">
                <a:solidFill>
                  <a:srgbClr val="1B1C1D"/>
                </a:solidFill>
                <a:latin typeface="+mj-ea"/>
                <a:ea typeface="+mj-ea"/>
              </a:rPr>
              <a:t>附图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D73E1F-A2E3-055B-33CD-EB3171B84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0" y="1725006"/>
            <a:ext cx="5645722" cy="44752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E044BB-9D35-D1F6-D870-9909808CC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039" y="2123769"/>
            <a:ext cx="6203490" cy="417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18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0"/>
    </mc:Choice>
    <mc:Fallback>
      <p:transition spd="slow" advTm="43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方正小标宋简体"/>
        <a:ea typeface="方正小标宋简体"/>
        <a:cs typeface=""/>
      </a:majorFont>
      <a:minorFont>
        <a:latin typeface="OPPO Sans"/>
        <a:ea typeface="OPP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Apocalypse Theresa</dc:creator>
  <cp:revision>2</cp:revision>
  <dcterms:created xsi:type="dcterms:W3CDTF">2024-11-06T13:21:21Z</dcterms:created>
  <dcterms:modified xsi:type="dcterms:W3CDTF">2026-01-11T15:00:00Z</dcterms:modified>
</cp:coreProperties>
</file>